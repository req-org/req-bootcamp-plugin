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q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1463040" cy="6097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651760"/>
            <a:ext cx="1054577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01D6C"/>
                </a:solidFill>
                <a:latin typeface="Calibri Light"/>
              </a:rPr>
              <a:t>REQ Global Compounders — Resultater Q2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Calibri"/>
              </a:rPr>
              <a:t>Investoroppdatering · 2. kvartal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035040"/>
            <a:ext cx="1828800" cy="38100"/>
          </a:xfrm>
          <a:prstGeom prst="rect">
            <a:avLst/>
          </a:prstGeom>
          <a:solidFill>
            <a:srgbClr val="82C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0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Kvartalet i 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2C0C7"/>
                </a:solidFill>
                <a:latin typeface="Calibri"/>
              </a:rPr>
              <a:t>REQ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1D6C"/>
                </a:solidFill>
                <a:latin typeface="Calibri Light"/>
              </a:rPr>
              <a:t>Hovedtall per 30.06.2026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0545775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239641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01D6C"/>
                </a:solidFill>
                <a:latin typeface="Calibri Light"/>
              </a:rPr>
              <a:t>+4,2 %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39641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Avkastning i kvartalet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39413" y="2468880"/>
            <a:ext cx="239641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01D6C"/>
                </a:solidFill>
                <a:latin typeface="Calibri Light"/>
              </a:rPr>
              <a:t>+11,8 %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9413" y="3657600"/>
            <a:ext cx="239641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Hittil i år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9393" y="2514600"/>
            <a:ext cx="12700" cy="173736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5866" y="2468880"/>
            <a:ext cx="239641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01D6C"/>
                </a:solidFill>
                <a:latin typeface="Calibri Light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5866" y="3657600"/>
            <a:ext cx="239641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Selskaper i porteføljen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6" y="2514600"/>
            <a:ext cx="12700" cy="173736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2319" y="2468880"/>
            <a:ext cx="239641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01D6C"/>
                </a:solidFill>
                <a:latin typeface="Calibri Light"/>
              </a:rPr>
              <a:t>1,24 mrd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2319" y="3657600"/>
            <a:ext cx="239641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Forvaltet kapital (NOK)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12299" y="2514600"/>
            <a:ext cx="12700" cy="173736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093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Alle tall er illustrasjon. Kilde: REQ.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1D6C"/>
                </a:solidFill>
                <a:latin typeface="Calibri Light"/>
              </a:rPr>
              <a:t>Avkastning slår referanseindeksen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0545775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qchart-qdk0xn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13" y="1554480"/>
            <a:ext cx="10313469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3093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Akkumulert avkastning, indeksert til 0 ved start. Illustrasjon.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1D6C"/>
                </a:solidFill>
                <a:latin typeface="Calibri Light"/>
              </a:rPr>
              <a:t>Kvartalsvis avkastning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0545775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qchart-_mo7p1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288" y="1554480"/>
            <a:ext cx="8903119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3093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Avkastning per kvartal. Tap vises i rødt. Illustrasjon.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1D6C"/>
                </a:solidFill>
                <a:latin typeface="Calibri Light"/>
              </a:rPr>
              <a:t>Utvikling i forvaltet kapital (mNOK)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0545775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qchart-295oajv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828" y="1554480"/>
            <a:ext cx="8606039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3093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Bro fra inngående til utgående kapital i kvartalet. Illustrasjon.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1D6C"/>
                </a:solidFill>
                <a:latin typeface="Calibri Light"/>
              </a:rPr>
              <a:t>Sektorallokering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0545775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qchart-khcwr89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239" y="1554480"/>
            <a:ext cx="5773216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3093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Andel av forvaltet kapital per 30.06.2026. Illustrasjon.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1D6C"/>
                </a:solidFill>
                <a:latin typeface="Calibri Light"/>
              </a:rPr>
              <a:t>Slik leser vi kvartalet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0545775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01D6C"/>
                </a:solidFill>
                <a:latin typeface="Calibri"/>
              </a:rPr>
              <a:t>– </a:t>
            </a:r>
            <a:r>
              <a:rPr sz="1700">
                <a:solidFill>
                  <a:srgbClr val="1A1A1A"/>
                </a:solidFill>
                <a:latin typeface="Calibri"/>
              </a:rPr>
              <a:t>Avkastningen på 4,2 % kom fra organisk vekst i kjerneposisjonene, ikke multippelekspansjon.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01D6C"/>
                </a:solidFill>
                <a:latin typeface="Calibri"/>
              </a:rPr>
              <a:t>– </a:t>
            </a:r>
            <a:r>
              <a:rPr sz="1700">
                <a:solidFill>
                  <a:srgbClr val="1A1A1A"/>
                </a:solidFill>
                <a:latin typeface="Calibri"/>
              </a:rPr>
              <a:t>Én posisjon skuffet på marginer (−140 bps) — vi diagnostiserer det åpent i teksten.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01D6C"/>
                </a:solidFill>
                <a:latin typeface="Calibri"/>
              </a:rPr>
              <a:t>– </a:t>
            </a:r>
            <a:r>
              <a:rPr sz="1700">
                <a:solidFill>
                  <a:srgbClr val="1A1A1A"/>
                </a:solidFill>
                <a:latin typeface="Calibri"/>
              </a:rPr>
              <a:t>Netto tegning på 125 mNOK styrker handlingsrommet inn i andre halvår.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093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REQ · Global Compounders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q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2011680" cy="8384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0233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Calibri"/>
              </a:rPr>
              <a:t>Investing with insight. Building what's next.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