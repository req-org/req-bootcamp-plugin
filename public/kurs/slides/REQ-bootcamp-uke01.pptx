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Kickoff. Herman + Nicolay. Rolig start - folk kommer inn med kaffe.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 tonen: dette er et byggekurs, ikke et foredragskurs - men i dag er unntaket.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Kort personlig intro av alle fire. Logoraden: bakgrunn fra NBIM, Rystad, Carnegie, Arkwright, Aviant, Comstruct, NTNU, MIT, Princeton og Berkeley.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Knappschaft nevnes ALDRI ved navn - kun «sykehusgruppe i Tyskland». Valora, Toluma og Tom Wilhelmsen Stiftelse kan navngis.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Målsetningen vår etter ti uker: deltakerne har full kontroll på Claude, Projects, MCP, plugins og skills, og kan bygge sine egne agenter. Alt dette tar dem et steg nærmere det vi kaller AI-native.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Motivasjonsslide - rolig, ikke selgende. Venstre kurve (METR): doblingstakt 196 dager 2019–26, men akselererer - ~131 dager siden 2023, ~89 dager siden 2024; frontier løser nå ~5 timers oppgaver. Høyre kurve (Epoch): big tech-capex ~400 mrd USD i 2025, guidet ~725 mrd i 2026. Fortell lagget: GW-datasentre tar 1–3,5 år å bygge (nett-kø opptil 5–7 år) - pengene fra 2024–26 blir compute først 2026–29. NVIDIA Vera Rubin gikk i produksjon juni 2026, volum først Q4. Altså: begge kurvene peker opp, og det som allerede er bestilt er ikke levert. Vi er tidlig.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Epoch Capabilities Index: hver prikk er en modell, fargelagt per aktør (OpenAI, Google, Anthropic, Meta, xAI). Poenget er ikke enkeltmodeller, men retningen - hele frontlinjen skyves oppover, kontinuerlig. Neste slide zoomer inn på Anthropic (Claude).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Samme indeks, filtrert til Anthropic. Claude-familien dere velger mellom i praksis: Haiku (rask og billig), Sonnet (dagligarbeid), Opus (tung analyse) - og nyere Fable. Tommelfingerregel: start med Sonnet, løft til Opus når oppgaven faktisk krever 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NBIM fortelles i førsteperson - Herman er ex-NBIM. Nyansen som ikke står på sliden: fondet lar også modellene lese PM-enes egen handelshistorikk tilbake til 1998 og gi bias-coaching («swing bigger»). Tangen til Stortinget: «Før tok det oss dager å få oversikt. Nå tar det 10 minutter.» 20%-produktivitetstallet er bevisst utelatt. Balyasny: egne research-agenter (sentralbanktaler, merger-arb, sektoranalyser); tallene er fra OpenAIs casestudie. Rolig og konkret - bevisene rett etter kurvene, poenget lander i statementet.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tilbake på METR-kurven to slides bak - samme form, dette er REQ sin del av den. Uke 5 er vendepunktet: fra bruk til bygging. NB: Økt 8 heter foreløpig «Trygg bruk» - innholdet er under omlegging (mindre AI-sikkerhet, jf. REQ); fase 3 omdøpt til «Forankring og leveranse».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Samme kart som Clarksons-kurset, men med modellen som eget lag i bunn. Fortell nedenfra og opp: språkmodellen er motoren (modellvalg = neste slides). Flatene er der dere møter den i hverdagen - chat, Cowork, Claude Code. Skills, MCP og agenter er det dere selv bygger i fase 2, og plugins er måten dere pakker og deler det på - kursmateriellet ligger faktisk i sitt eget plugin. Poeng nr. 2: grunnmuren er modulær. MCP er en åpen standard, og skills/plugins-konseptene finnes hos alle leverandørene - bytter dere til GPT eller Gemini, beholder dere alt dere har bygget i lagene over. Det dere lærer er overførbart. Ikke gå i dybden - alt dette kommer igjen senere i kurset.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Fortell flyten venstre mot høyre: møter og tale fanges automatisk, alt samles i PI, og AI-verktøyene bygger på den konteksten. Demoen kommer rett etter denne sliden - vis PI med et ekte (ufarlig) prosjekt, Wispr Flow-diktering, Granola-notat. Maks 8 min. Målet er «sånn kan det se ut hos dere» - ikke produktdemo.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Vanligste misforståelse: å bruke Claude som Google eller som Bloomberg. Den er ingen av delene.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Kontekstvinduet = alt modellen ser i ETT kall, vist som fargede felt: systeminstruks, verktøy/MCP, prosjekt &amp; minne, hentet materiale, samtalehistorikk og din melding - så svaret ut. Poeng 1: det DU skriver er den minste biten; historikk + hentet materiale + prosjektkontekst fyller mest (bredden antyder typisk forbruk, ikke eksakt). Poeng 2: vinduet har fast token-budsjett (ledig plass til høyre) og bygges på nytt ved hvert kall - modellen husker ingenting mellom kall. Svaret teller også. Praktisk: legg fast kontekst i Projects, hold vinduet rent - billigere og bedre svar. Per ba eksplisitt om dette temaet.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Rask oversikt over hva en plugin kan inneholde - ikke gå i dybden. Kommandoer = snarveier du skriver selv. Skills = oppskrifter Claude velger selv. Sub-agenter = egne hjelpere for én oppgave. MCP = standardkobling til data og systemer. Hooks = automatikk på hendelser. Alt dette bygger dere selv fra fase 2 (uke 6–7). Neste slide viser en ekte plugin: kursets 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Kjernen i avansert Claude-bruk: skills = faste oppskrifter Claude tar i bruk selv, MCP = standardkobling mellom AI og data. Ikke gå i dybden - begge kommer igjen i uke 6–7. Selg øyeblikket: dere skal nå installere deres første plugin.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Nicolay tar Teams-deltakerne (Stockholm/Bergen). Ingen innlogging - serveren er åpen. Fungerer i Claude-appen og på claude.ai, med kurskontoen.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folk prøve fritt i 5–10 min, vis så REQ-presentasjonen live som avslutning. «Forklar»-skillen og presentasjons-demoen forutsetter plugin-ticketene #37 og #38.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 standarden fra dag én: begeistring OG disiplin. Dette er ikke småskrift - det er metoden.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Varden går rundt. Nicolay tar Teams-deltakerne (Stockholm/Bergen). Alt kursmateriell, maler og recaps bor her resten av kurset.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min. Ferdig-kriterium: et brukbart første svar + en mening om modellvalg.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2–3 deltakere deler. Navngi gjerne Stockholm/Bergen så hybride ikke blir tilskuere.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Dette er Hermans viktigste output fra uke 1: en use-case-liste å vurdere feasibility på.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Minn om: pulse-survey kommer rett etterpå (2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pn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jp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5" Type="http://schemas.openxmlformats.org/officeDocument/2006/relationships/image" Target="../media/image29.png"/><Relationship Id="rId6" Type="http://schemas.openxmlformats.org/officeDocument/2006/relationships/hyperlink" Target="https://openai.com/index/balyasny-asset-management/" TargetMode="Externa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20.png"/><Relationship Id="rId8" Type="http://schemas.openxmlformats.org/officeDocument/2006/relationships/image" Target="../media/image41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37.png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1D6C"/>
                </a:solidFill>
                <a:latin typeface="Arial"/>
              </a:rPr>
              <a:t>KURS · UKE 1 AV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1A1A1A"/>
                </a:solidFill>
                <a:latin typeface="Arial"/>
              </a:rPr>
              <a:t>AI Bootcamp for REQ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B6B6B"/>
                </a:solidFill>
                <a:latin typeface="Arial"/>
              </a:rPr>
              <a:t>Introduksjon, landskapet og modellvalg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Tirsdag 18. august 2026  ·  08:30–09:30  ·  Sommerrogata 17, Oslo</a:t>
            </a:r>
          </a:p>
        </p:txBody>
      </p:sp>
      <p:pic>
        <p:nvPicPr>
          <p:cNvPr id="6" name="Picture 5" descr="varden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43600"/>
            <a:ext cx="1625600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77160" y="5897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×</a:t>
            </a:r>
          </a:p>
        </p:txBody>
      </p:sp>
      <p:pic>
        <p:nvPicPr>
          <p:cNvPr id="8" name="Picture 7" descr="req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200" y="5815584"/>
            <a:ext cx="1228570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VELKOMMEN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1874520"/>
            <a:ext cx="1054577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Velkommen - hvem er Varden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Målet vårt etter ti uker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Hvorfor nå - hvor vi er på kurven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Claude, verktøyene og modellene - slik jobber vi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Hands-on - installer kurspluginen og spør kurset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Veien til uke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HVEM VI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Varden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Et AI-studio i Oslo og London.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nico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295144"/>
            <a:ext cx="2103120" cy="2103120"/>
          </a:xfrm>
          <a:prstGeom prst="ellipse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5354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Nicolay Liaaen Hagen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CEO &amp; Co-Founder</a:t>
            </a:r>
          </a:p>
        </p:txBody>
      </p:sp>
      <p:pic>
        <p:nvPicPr>
          <p:cNvPr id="12" name="Picture 11" descr="ann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178" y="2295144"/>
            <a:ext cx="2103120" cy="2103120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37178" y="45354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Anna Schrimpf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President &amp; Co-Founder</a:t>
            </a:r>
          </a:p>
        </p:txBody>
      </p:sp>
      <p:pic>
        <p:nvPicPr>
          <p:cNvPr id="14" name="Picture 13" descr="willi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396" y="2295144"/>
            <a:ext cx="2103120" cy="2103120"/>
          </a:xfrm>
          <a:prstGeom prst="ellipse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1396" y="45354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William Skaug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Co-Founder</a:t>
            </a:r>
          </a:p>
        </p:txBody>
      </p:sp>
      <p:pic>
        <p:nvPicPr>
          <p:cNvPr id="16" name="Picture 15" descr="herma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5615" y="2295144"/>
            <a:ext cx="2103120" cy="2103120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5615" y="45354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Herman Holmøy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Co-Founder</a:t>
            </a:r>
          </a:p>
        </p:txBody>
      </p:sp>
      <p:pic>
        <p:nvPicPr>
          <p:cNvPr id="18" name="Picture 17" descr="inst-nbim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65" y="5632704"/>
            <a:ext cx="310896" cy="310896"/>
          </a:xfrm>
          <a:prstGeom prst="rect">
            <a:avLst/>
          </a:prstGeom>
        </p:spPr>
      </p:pic>
      <p:pic>
        <p:nvPicPr>
          <p:cNvPr id="19" name="Picture 18" descr="inst-rysta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909" y="5687568"/>
            <a:ext cx="804672" cy="201168"/>
          </a:xfrm>
          <a:prstGeom prst="rect">
            <a:avLst/>
          </a:prstGeom>
        </p:spPr>
      </p:pic>
      <p:pic>
        <p:nvPicPr>
          <p:cNvPr id="20" name="Picture 19" descr="inst-carneg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1629" y="5669280"/>
            <a:ext cx="494508" cy="237744"/>
          </a:xfrm>
          <a:prstGeom prst="rect">
            <a:avLst/>
          </a:prstGeom>
        </p:spPr>
      </p:pic>
      <p:pic>
        <p:nvPicPr>
          <p:cNvPr id="21" name="Picture 20" descr="inst-arkwr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0185" y="5696712"/>
            <a:ext cx="860239" cy="182880"/>
          </a:xfrm>
          <a:prstGeom prst="rect">
            <a:avLst/>
          </a:prstGeom>
        </p:spPr>
      </p:pic>
      <p:pic>
        <p:nvPicPr>
          <p:cNvPr id="22" name="Picture 21" descr="inst-avia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4472" y="5687568"/>
            <a:ext cx="687440" cy="201168"/>
          </a:xfrm>
          <a:prstGeom prst="rect">
            <a:avLst/>
          </a:prstGeom>
        </p:spPr>
      </p:pic>
      <p:pic>
        <p:nvPicPr>
          <p:cNvPr id="23" name="Picture 22" descr="inst-comstruc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65960" y="5696712"/>
            <a:ext cx="757015" cy="182880"/>
          </a:xfrm>
          <a:prstGeom prst="rect">
            <a:avLst/>
          </a:prstGeom>
        </p:spPr>
      </p:pic>
      <p:pic>
        <p:nvPicPr>
          <p:cNvPr id="24" name="Picture 23" descr="inst-ntnu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7023" y="5687568"/>
            <a:ext cx="1058779" cy="201168"/>
          </a:xfrm>
          <a:prstGeom prst="rect">
            <a:avLst/>
          </a:prstGeom>
        </p:spPr>
      </p:pic>
      <p:pic>
        <p:nvPicPr>
          <p:cNvPr id="25" name="Picture 24" descr="inst-mi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9850" y="5678424"/>
            <a:ext cx="771713" cy="219456"/>
          </a:xfrm>
          <a:prstGeom prst="rect">
            <a:avLst/>
          </a:prstGeom>
        </p:spPr>
      </p:pic>
      <p:pic>
        <p:nvPicPr>
          <p:cNvPr id="26" name="Picture 25" descr="inst-princet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05611" y="5623560"/>
            <a:ext cx="258015" cy="329184"/>
          </a:xfrm>
          <a:prstGeom prst="rect">
            <a:avLst/>
          </a:prstGeom>
        </p:spPr>
      </p:pic>
      <p:pic>
        <p:nvPicPr>
          <p:cNvPr id="27" name="Picture 26" descr="inst-berkele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47674" y="5669280"/>
            <a:ext cx="756055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PROSJEKTER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Hva vi bygger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1828800"/>
            <a:ext cx="336285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93392"/>
            <a:ext cx="303367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Valora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AI for norsk næringseiendom - matrikkel, regulering, SSB og Brønnøysund i ett verktøy.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4418" y="1828800"/>
            <a:ext cx="336285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9010" y="1993392"/>
            <a:ext cx="303367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Project Intelligence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Prosjekthjernen vår: AI-lag over prosjekter, e-post, kalender og dokumenter.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5876" y="1828800"/>
            <a:ext cx="336285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0468" y="1993392"/>
            <a:ext cx="303367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Toluma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Family office - AI i kapitalforvaltningen.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11880"/>
            <a:ext cx="336285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76472"/>
            <a:ext cx="303367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Tom Wilhelmsen Stiftelse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Skreddersydd programvare for raskere tildelings- og søknadsbehandling.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4418" y="3611880"/>
            <a:ext cx="336285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9010" y="3776472"/>
            <a:ext cx="303367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Sykehusgruppe, Tyskland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Rådgivning og integrasjon - AI og sky.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876" y="3611880"/>
            <a:ext cx="336285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0468" y="3776472"/>
            <a:ext cx="303367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Legal clinics, Storbritannia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AI-støttet inntak og saksbehandling for rettshjelpsklinikker.</a:t>
            </a:r>
          </a:p>
        </p:txBody>
      </p:sp>
      <p:pic>
        <p:nvPicPr>
          <p:cNvPr id="21" name="Picture 20" descr="logo-valora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516" y="1993392"/>
            <a:ext cx="280710" cy="274320"/>
          </a:xfrm>
          <a:prstGeom prst="rect">
            <a:avLst/>
          </a:prstGeom>
        </p:spPr>
      </p:pic>
      <p:pic>
        <p:nvPicPr>
          <p:cNvPr id="22" name="Picture 21" descr="logo-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364" y="1993392"/>
            <a:ext cx="274320" cy="274320"/>
          </a:xfrm>
          <a:prstGeom prst="rect">
            <a:avLst/>
          </a:prstGeom>
        </p:spPr>
      </p:pic>
      <p:pic>
        <p:nvPicPr>
          <p:cNvPr id="23" name="Picture 22" descr="logo-tolum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6458" y="1993392"/>
            <a:ext cx="667685" cy="164592"/>
          </a:xfrm>
          <a:prstGeom prst="rect">
            <a:avLst/>
          </a:prstGeom>
        </p:spPr>
      </p:pic>
      <p:pic>
        <p:nvPicPr>
          <p:cNvPr id="24" name="Picture 23" descr="logo-tws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7745" y="3776472"/>
            <a:ext cx="413481" cy="310896"/>
          </a:xfrm>
          <a:prstGeom prst="rect">
            <a:avLst/>
          </a:prstGeom>
        </p:spPr>
      </p:pic>
      <p:pic>
        <p:nvPicPr>
          <p:cNvPr id="25" name="Picture 24" descr="icon-hospit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0076" y="3776472"/>
            <a:ext cx="292608" cy="292608"/>
          </a:xfrm>
          <a:prstGeom prst="rect">
            <a:avLst/>
          </a:prstGeom>
        </p:spPr>
      </p:pic>
      <p:pic>
        <p:nvPicPr>
          <p:cNvPr id="26" name="Picture 25" descr="icon-leg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1535" y="377647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MÅLET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Målsetningen vår etter ti uker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1828800"/>
            <a:ext cx="5158587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93392"/>
            <a:ext cx="4829403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1D6C"/>
                </a:solidFill>
                <a:latin typeface="Arial"/>
              </a:rPr>
              <a:t>01  </a:t>
            </a:r>
            <a:r>
              <a:rPr sz="1400" b="1">
                <a:solidFill>
                  <a:srgbClr val="1A1A1A"/>
                </a:solidFill>
                <a:latin typeface="Arial"/>
              </a:rPr>
              <a:t>Full kontroll på Claude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Projects, Artifacts og daglig arbeidsflyt sitter i fingrene.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7" y="1828800"/>
            <a:ext cx="5158587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4829403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1D6C"/>
                </a:solidFill>
                <a:latin typeface="Arial"/>
              </a:rPr>
              <a:t>02  </a:t>
            </a:r>
            <a:r>
              <a:rPr sz="1400" b="1">
                <a:solidFill>
                  <a:srgbClr val="1A1A1A"/>
                </a:solidFill>
                <a:latin typeface="Arial"/>
              </a:rPr>
              <a:t>MCP, plugins og skills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Du kobler Claude til egne data og pakker det så hele REQ kan dele.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20440"/>
            <a:ext cx="5158587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85032"/>
            <a:ext cx="4829403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1D6C"/>
                </a:solidFill>
                <a:latin typeface="Arial"/>
              </a:rPr>
              <a:t>03  </a:t>
            </a:r>
            <a:r>
              <a:rPr sz="1400" b="1">
                <a:solidFill>
                  <a:srgbClr val="1A1A1A"/>
                </a:solidFill>
                <a:latin typeface="Arial"/>
              </a:rPr>
              <a:t>Bygg dine egne agenter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Fra bruk til bygging: verktøy som jobber selvstendig mot et mål.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3520440"/>
            <a:ext cx="5158587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3685032"/>
            <a:ext cx="4829403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1D6C"/>
                </a:solidFill>
                <a:latin typeface="Arial"/>
              </a:rPr>
              <a:t>04  </a:t>
            </a:r>
            <a:r>
              <a:rPr sz="1400" b="1">
                <a:solidFill>
                  <a:srgbClr val="1A1A1A"/>
                </a:solidFill>
                <a:latin typeface="Arial"/>
              </a:rPr>
              <a:t>Et steg mot AI-native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Nærmere en hverdag der AI er det naturlige førstevalget.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HVORFOR NÅ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Hvor på kurven er vi?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metr-time-horiz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83080"/>
            <a:ext cx="5639126" cy="3291840"/>
          </a:xfrm>
          <a:prstGeom prst="rect">
            <a:avLst/>
          </a:prstGeom>
          <a:ln w="9525">
            <a:solidFill>
              <a:srgbClr val="E5E5E5"/>
            </a:solidFill>
          </a:ln>
        </p:spPr>
      </p:pic>
      <p:pic>
        <p:nvPicPr>
          <p:cNvPr id="10" name="Picture 9" descr="capex-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240" y="1783080"/>
            <a:ext cx="4162495" cy="3291840"/>
          </a:xfrm>
          <a:prstGeom prst="rect">
            <a:avLst/>
          </a:prstGeom>
          <a:ln w="9525">
            <a:solidFill>
              <a:srgbClr val="E5E5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960" y="5184648"/>
            <a:ext cx="563912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Kapabilitet: </a:t>
            </a:r>
            <a:r>
              <a:rPr sz="1200" b="0">
                <a:solidFill>
                  <a:srgbClr val="6B6B6B"/>
                </a:solidFill>
                <a:latin typeface="Arial"/>
              </a:rPr>
              <a:t>oppgavelengden AI løser alene dobles hver ~4.–6. måned - i dag over en arbeidsdag. (METR «Time Horizon 1.1», jan.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6240" y="5184648"/>
            <a:ext cx="41624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Investering: </a:t>
            </a:r>
            <a:r>
              <a:rPr sz="1200" b="0">
                <a:solidFill>
                  <a:srgbClr val="6B6B6B"/>
                </a:solidFill>
                <a:latin typeface="Arial"/>
              </a:rPr>
              <a:t>firedoblet siden GPT-4 - og datasentrene bak tallene er ennå ikke på nett. (Epoch AI)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580644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91616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Poenget:</a:t>
            </a:r>
            <a:r>
              <a:rPr sz="1500" b="0">
                <a:solidFill>
                  <a:srgbClr val="1A1A1A"/>
                </a:solidFill>
                <a:latin typeface="Arial"/>
              </a:rPr>
              <a:t> Kapasiteten er kjøpt, men ikke bygget - de nyeste brikkene er ikke engang i drift. Modellene dere lærer på i dag er de dårligste dere noen gang kommer til å bruke.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pic>
        <p:nvPicPr>
          <p:cNvPr id="6" name="Picture 5" descr="frontier-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8" y="457200"/>
            <a:ext cx="11315400" cy="5349240"/>
          </a:xfrm>
          <a:prstGeom prst="rect">
            <a:avLst/>
          </a:prstGeom>
          <a:ln w="9525">
            <a:solidFill>
              <a:srgbClr val="E5E5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8978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Kilde:  Epoch AI - Capabilities Index (ECI)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pic>
        <p:nvPicPr>
          <p:cNvPr id="6" name="Picture 5" descr="frontier-cla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76" y="457200"/>
            <a:ext cx="11431145" cy="5349240"/>
          </a:xfrm>
          <a:prstGeom prst="rect">
            <a:avLst/>
          </a:prstGeom>
          <a:ln w="9525">
            <a:solidFill>
              <a:srgbClr val="E5E5E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8978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Kilde:  Epoch AI - Capabilities Index (ECI)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HVORFOR NÅ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AI i produksjon i andre fond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To fond der dette allerede er hverdagen.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2295144"/>
            <a:ext cx="5158587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st-nbi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043" y="2496312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2551176"/>
            <a:ext cx="42167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NBIM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990088"/>
            <a:ext cx="4756251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Leser selskapsrapporter og nyheter på tvers av rundt 9 000 selskaper. Oversikten som før tok dager, tar nå minutter. Bemanningen er uendret.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295144"/>
            <a:ext cx="5158587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-balyas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230" y="249631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1315" y="2551176"/>
            <a:ext cx="42167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Balyasny Asset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1315" y="2990088"/>
            <a:ext cx="4756251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Makroanalyser som før tok to dager, gjøres på 30 minutter. 95 prosent av investeringsteamene bruker plattformen.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489204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500176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Poenget:</a:t>
            </a:r>
            <a:r>
              <a:rPr sz="1500" b="0">
                <a:solidFill>
                  <a:srgbClr val="1A1A1A"/>
                </a:solidFill>
                <a:latin typeface="Arial"/>
              </a:rPr>
              <a:t> dybden som før krevde et helt team, nå uten å øke bemanningen.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Kilder:  NBIM - Tangen til Stortinget, mai 2025     ·     Balyasny - </a:t>
            </a:r>
            <a:r>
              <a:rPr sz="950" u="sng">
                <a:solidFill>
                  <a:srgbClr val="6B6B6B"/>
                </a:solidFill>
                <a:latin typeface="Arial"/>
                <a:hlinkClick r:id="rId6"/>
              </a:rPr>
              <a:t>OpenAI-casestudie,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KARTET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Planen de neste 10 ukene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4418808"/>
            <a:ext cx="4163444" cy="1159032"/>
          </a:xfrm>
          <a:prstGeom prst="rect">
            <a:avLst/>
          </a:prstGeom>
          <a:solidFill>
            <a:srgbClr val="E6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60136"/>
            <a:ext cx="412686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1D6C"/>
                </a:solidFill>
                <a:latin typeface="Arial"/>
              </a:rPr>
              <a:t>FASE 1 · UKE 1–4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Grunnlaget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Fra null til trygg daglig bruk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1268" y="3354502"/>
            <a:ext cx="3108867" cy="2223338"/>
          </a:xfrm>
          <a:prstGeom prst="rect">
            <a:avLst/>
          </a:prstGeom>
          <a:solidFill>
            <a:srgbClr val="D4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7844" y="5660136"/>
            <a:ext cx="30722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1D6C"/>
                </a:solidFill>
                <a:latin typeface="Arial"/>
              </a:rPr>
              <a:t>FASE 2 · UKE 5–7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Bygge og automatisere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Vendepunktet: fra bruk til bygging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4999" y="1828800"/>
            <a:ext cx="3108867" cy="3749040"/>
          </a:xfrm>
          <a:prstGeom prst="rect">
            <a:avLst/>
          </a:prstGeom>
          <a:solidFill>
            <a:srgbClr val="BDC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1575" y="5660136"/>
            <a:ext cx="307229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1D6C"/>
                </a:solidFill>
                <a:latin typeface="Arial"/>
              </a:rPr>
              <a:t>FASE 3 · UKE 8–10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Forankring og leveranse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Alle har bygget noe eget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350248" y="5342315"/>
            <a:ext cx="263644" cy="6925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13892" y="5326739"/>
            <a:ext cx="263645" cy="15576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77537" y="5304410"/>
            <a:ext cx="263644" cy="22329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41181" y="5276132"/>
            <a:ext cx="263644" cy="28278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04825" y="5242405"/>
            <a:ext cx="263644" cy="33727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68469" y="5203586"/>
            <a:ext cx="263645" cy="38819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32114" y="5159948"/>
            <a:ext cx="263644" cy="43638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95758" y="5111710"/>
            <a:ext cx="263644" cy="48238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459402" y="5059053"/>
            <a:ext cx="263644" cy="52657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23046" y="5002131"/>
            <a:ext cx="263645" cy="56922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86691" y="4941077"/>
            <a:ext cx="263644" cy="61054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50335" y="4876008"/>
            <a:ext cx="263644" cy="65069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13979" y="4807027"/>
            <a:ext cx="263644" cy="68981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77623" y="4734227"/>
            <a:ext cx="263645" cy="7280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041268" y="4657693"/>
            <a:ext cx="263644" cy="76534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304912" y="4577501"/>
            <a:ext cx="263644" cy="80192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68556" y="4493721"/>
            <a:ext cx="263644" cy="8378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832200" y="4406418"/>
            <a:ext cx="263645" cy="87303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095845" y="4315651"/>
            <a:ext cx="263644" cy="90767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359489" y="4221478"/>
            <a:ext cx="263644" cy="94173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623133" y="4123949"/>
            <a:ext cx="263644" cy="97529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886777" y="4023113"/>
            <a:ext cx="263645" cy="100836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50422" y="3919016"/>
            <a:ext cx="263644" cy="104097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14066" y="3811702"/>
            <a:ext cx="263644" cy="107314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77710" y="3701212"/>
            <a:ext cx="263644" cy="11049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941354" y="3587583"/>
            <a:ext cx="263645" cy="113629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04999" y="3470853"/>
            <a:ext cx="263644" cy="11673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468643" y="3351057"/>
            <a:ext cx="263644" cy="119796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32287" y="3228227"/>
            <a:ext cx="263644" cy="12283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995931" y="3102397"/>
            <a:ext cx="263645" cy="12583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259576" y="2973595"/>
            <a:ext cx="263644" cy="128802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523220" y="2841851"/>
            <a:ext cx="263644" cy="131744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786864" y="2707194"/>
            <a:ext cx="263644" cy="134657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050508" y="2569649"/>
            <a:ext cx="263645" cy="137545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314153" y="2429243"/>
            <a:ext cx="263644" cy="140406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577797" y="2286000"/>
            <a:ext cx="263644" cy="143243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194800" y="51937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94800" y="5244084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8728" y="481888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Fundament I</a:t>
            </a:r>
          </a:p>
        </p:txBody>
      </p:sp>
      <p:sp>
        <p:nvSpPr>
          <p:cNvPr id="54" name="Oval 53"/>
          <p:cNvSpPr/>
          <p:nvPr/>
        </p:nvSpPr>
        <p:spPr>
          <a:xfrm>
            <a:off x="2249377" y="5120684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9377" y="5170976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3305" y="47457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Fundament II</a:t>
            </a:r>
          </a:p>
        </p:txBody>
      </p:sp>
      <p:sp>
        <p:nvSpPr>
          <p:cNvPr id="57" name="Oval 56"/>
          <p:cNvSpPr/>
          <p:nvPr/>
        </p:nvSpPr>
        <p:spPr>
          <a:xfrm>
            <a:off x="3303954" y="495626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03954" y="5006554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27882" y="458135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Skriving &amp; Office</a:t>
            </a:r>
          </a:p>
        </p:txBody>
      </p:sp>
      <p:sp>
        <p:nvSpPr>
          <p:cNvPr id="60" name="Oval 59"/>
          <p:cNvSpPr/>
          <p:nvPr/>
        </p:nvSpPr>
        <p:spPr>
          <a:xfrm>
            <a:off x="4358531" y="472056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58531" y="4770852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2459" y="43456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Research &amp; kilder</a:t>
            </a:r>
          </a:p>
        </p:txBody>
      </p:sp>
      <p:sp>
        <p:nvSpPr>
          <p:cNvPr id="63" name="Oval 62"/>
          <p:cNvSpPr/>
          <p:nvPr/>
        </p:nvSpPr>
        <p:spPr>
          <a:xfrm>
            <a:off x="5413108" y="4422053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13108" y="4472345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37036" y="4047149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Repeterbar analyse</a:t>
            </a:r>
          </a:p>
        </p:txBody>
      </p:sp>
      <p:sp>
        <p:nvSpPr>
          <p:cNvPr id="66" name="Oval 65"/>
          <p:cNvSpPr/>
          <p:nvPr/>
        </p:nvSpPr>
        <p:spPr>
          <a:xfrm>
            <a:off x="6467685" y="406603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7685" y="4116322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1613" y="369112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Deres use-cases</a:t>
            </a:r>
          </a:p>
        </p:txBody>
      </p:sp>
      <p:sp>
        <p:nvSpPr>
          <p:cNvPr id="69" name="Oval 68"/>
          <p:cNvSpPr/>
          <p:nvPr/>
        </p:nvSpPr>
        <p:spPr>
          <a:xfrm>
            <a:off x="7522262" y="3656254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22262" y="3706546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6190" y="328135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MCP &amp; agenter</a:t>
            </a:r>
          </a:p>
        </p:txBody>
      </p:sp>
      <p:sp>
        <p:nvSpPr>
          <p:cNvPr id="72" name="Oval 71"/>
          <p:cNvSpPr/>
          <p:nvPr/>
        </p:nvSpPr>
        <p:spPr>
          <a:xfrm>
            <a:off x="8576839" y="3195609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76839" y="3245901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0767" y="2820705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Trygg bruk</a:t>
            </a:r>
          </a:p>
        </p:txBody>
      </p:sp>
      <p:sp>
        <p:nvSpPr>
          <p:cNvPr id="75" name="Oval 74"/>
          <p:cNvSpPr/>
          <p:nvPr/>
        </p:nvSpPr>
        <p:spPr>
          <a:xfrm>
            <a:off x="9631416" y="2686403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31416" y="2736695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5344" y="2311499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Forankring</a:t>
            </a:r>
          </a:p>
        </p:txBody>
      </p:sp>
      <p:sp>
        <p:nvSpPr>
          <p:cNvPr id="78" name="Oval 77"/>
          <p:cNvSpPr/>
          <p:nvPr/>
        </p:nvSpPr>
        <p:spPr>
          <a:xfrm>
            <a:off x="10685993" y="21305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85993" y="2180844"/>
            <a:ext cx="3108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1D6C"/>
                </a:solidFill>
                <a:latin typeface="Arial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8441" y="175564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Leveranse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ØKOSYSTEMET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Claude-økosystemet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Konseptene er de samme uansett modell - bare motoren i bunn byttes.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2194560"/>
            <a:ext cx="340553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eco-ski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46888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17904" y="2331720"/>
            <a:ext cx="256428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Skills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Faste oppskrifter for én oppgave.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3082" y="2194560"/>
            <a:ext cx="340553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eco-mc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7674" y="2468880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88026" y="2331720"/>
            <a:ext cx="256428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MCP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Kobler Claude til deres data og systemer.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3204" y="2194560"/>
            <a:ext cx="340553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eco-ag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246888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58148" y="2331720"/>
            <a:ext cx="256428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Agenter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Jobber selvstendig mot et mål.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25725" y="3127248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7" y="3127248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65969" y="3127248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3227832"/>
            <a:ext cx="10545775" cy="932688"/>
          </a:xfrm>
          <a:prstGeom prst="rect">
            <a:avLst/>
          </a:prstGeom>
          <a:solidFill>
            <a:srgbClr val="EC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eco-plug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3502152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17904" y="3364992"/>
            <a:ext cx="970452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Plugins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Skills og koblinger i én pakke - del med hele REQ. Dette kurset bor i sitt eget plugin.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25725" y="4160520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5847" y="4160520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65969" y="4160520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2960" y="4261104"/>
            <a:ext cx="340553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co-w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4535424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17904" y="4398264"/>
            <a:ext cx="256428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Claude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Web og app: chat, Projects og Artifacts.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3082" y="4261104"/>
            <a:ext cx="340553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eco-cowo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7674" y="4535424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88026" y="4398264"/>
            <a:ext cx="256428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Cowork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Tilgang til filene dine - som en kollega.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3204" y="4261104"/>
            <a:ext cx="340553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eco-co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796" y="4535424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58148" y="4398264"/>
            <a:ext cx="256428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Claude Code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Bygger verktøy i terminalen.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525725" y="5193792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95847" y="5193792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65969" y="5193792"/>
            <a:ext cx="0" cy="100584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22960" y="5294376"/>
            <a:ext cx="10545775" cy="932688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-eco-llm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" y="5568696"/>
            <a:ext cx="384048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17904" y="5431536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Språkmodellen (LLM)</a:t>
            </a:r>
            <a:r>
              <a:rPr sz="900" b="1">
                <a:solidFill>
                  <a:srgbClr val="BFCBE8"/>
                </a:solidFill>
                <a:latin typeface="Arial"/>
              </a:rPr>
              <a:t>   BYTTBAR MODUL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BFCBE8"/>
                </a:solidFill>
                <a:latin typeface="Arial"/>
              </a:rPr>
              <a:t>I dag Claude - Opus · Sonnet · Haiku. Bytt til GPT eller Gemini - lagene over fungerer likt.</a:t>
            </a:r>
          </a:p>
        </p:txBody>
      </p:sp>
      <p:pic>
        <p:nvPicPr>
          <p:cNvPr id="43" name="Picture 42" descr="logo-gemini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9823" y="5641848"/>
            <a:ext cx="237744" cy="237744"/>
          </a:xfrm>
          <a:prstGeom prst="rect">
            <a:avLst/>
          </a:prstGeom>
        </p:spPr>
      </p:pic>
      <p:pic>
        <p:nvPicPr>
          <p:cNvPr id="44" name="Picture 43" descr="icon-eco-swap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28071" y="5669280"/>
            <a:ext cx="182880" cy="182880"/>
          </a:xfrm>
          <a:prstGeom prst="rect">
            <a:avLst/>
          </a:prstGeom>
        </p:spPr>
      </p:pic>
      <p:pic>
        <p:nvPicPr>
          <p:cNvPr id="45" name="Picture 44" descr="logo-openai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3167" y="5632704"/>
            <a:ext cx="256032" cy="256032"/>
          </a:xfrm>
          <a:prstGeom prst="rect">
            <a:avLst/>
          </a:prstGeom>
        </p:spPr>
      </p:pic>
      <p:pic>
        <p:nvPicPr>
          <p:cNvPr id="46" name="Picture 45" descr="icon-eco-swap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1415" y="5669280"/>
            <a:ext cx="182880" cy="182880"/>
          </a:xfrm>
          <a:prstGeom prst="rect">
            <a:avLst/>
          </a:prstGeom>
        </p:spPr>
      </p:pic>
      <p:pic>
        <p:nvPicPr>
          <p:cNvPr id="47" name="Picture 46" descr="logo-claud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6511" y="563270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SLIK JOBBER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Ett system - verktøyene snakker sammen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251460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60904"/>
            <a:ext cx="24505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Granola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Møtenotater - skriver seg selv.</a:t>
            </a:r>
          </a:p>
        </p:txBody>
      </p:sp>
      <p:pic>
        <p:nvPicPr>
          <p:cNvPr id="11" name="Picture 10" descr="logo-gran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2633472"/>
            <a:ext cx="274320" cy="274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356616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712464"/>
            <a:ext cx="24505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Wispr Flow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Tale til tekst - vi snakker til maskinen.</a:t>
            </a:r>
          </a:p>
        </p:txBody>
      </p:sp>
      <p:pic>
        <p:nvPicPr>
          <p:cNvPr id="14" name="Picture 13" descr="logo-wispr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536" y="3685032"/>
            <a:ext cx="274320" cy="274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22960" y="461772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64024"/>
            <a:ext cx="245059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Gmail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E-post - samtaler og vedlegg rett inn.</a:t>
            </a:r>
          </a:p>
        </p:txBody>
      </p:sp>
      <p:pic>
        <p:nvPicPr>
          <p:cNvPr id="17" name="Picture 16" descr="logo-g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6" y="4736592"/>
            <a:ext cx="274320" cy="274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709160" y="3108960"/>
            <a:ext cx="29260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5464" y="3255264"/>
            <a:ext cx="263347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Project Intelligence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All kontekst samles her: prosjekter, e-post, kalender, dokumenter - og neste steg.</a:t>
            </a:r>
          </a:p>
        </p:txBody>
      </p:sp>
      <p:pic>
        <p:nvPicPr>
          <p:cNvPr id="20" name="Picture 19" descr="logo-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3255264"/>
            <a:ext cx="292608" cy="29260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641080" y="329184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87384" y="3438144"/>
            <a:ext cx="24505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Claude · ChatGPT · Cursor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AI-tilgangen: analyse, dokumenter, kode og agenter.</a:t>
            </a:r>
          </a:p>
        </p:txBody>
      </p:sp>
      <p:pic>
        <p:nvPicPr>
          <p:cNvPr id="23" name="Picture 22" descr="logo-clau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7384" y="4270248"/>
            <a:ext cx="274320" cy="274320"/>
          </a:xfrm>
          <a:prstGeom prst="rect">
            <a:avLst/>
          </a:prstGeom>
        </p:spPr>
      </p:pic>
      <p:pic>
        <p:nvPicPr>
          <p:cNvPr id="24" name="Picture 23" descr="logo-opena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6296" y="4270248"/>
            <a:ext cx="274320" cy="274320"/>
          </a:xfrm>
          <a:prstGeom prst="rect">
            <a:avLst/>
          </a:prstGeom>
        </p:spPr>
      </p:pic>
      <p:pic>
        <p:nvPicPr>
          <p:cNvPr id="25" name="Picture 24" descr="logo-curs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5208" y="4270248"/>
            <a:ext cx="240653" cy="27432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3566160" y="2944368"/>
            <a:ext cx="1143000" cy="667512"/>
          </a:xfrm>
          <a:prstGeom prst="line">
            <a:avLst/>
          </a:prstGeom>
          <a:ln w="12700">
            <a:solidFill>
              <a:srgbClr val="6B6B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66160" y="3977639"/>
            <a:ext cx="1143000" cy="18289"/>
          </a:xfrm>
          <a:prstGeom prst="line">
            <a:avLst/>
          </a:prstGeom>
          <a:ln w="12700">
            <a:solidFill>
              <a:srgbClr val="6B6B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566160" y="4343400"/>
            <a:ext cx="1143000" cy="704088"/>
          </a:xfrm>
          <a:prstGeom prst="line">
            <a:avLst/>
          </a:prstGeom>
          <a:ln w="12700">
            <a:solidFill>
              <a:srgbClr val="6B6B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35240" y="3977639"/>
            <a:ext cx="1005840" cy="0"/>
          </a:xfrm>
          <a:prstGeom prst="line">
            <a:avLst/>
          </a:prstGeom>
          <a:ln w="12700">
            <a:solidFill>
              <a:srgbClr val="6B6B6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FUNDAMENTET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Språkmodell ≠ søk ≠ database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1874520"/>
            <a:ext cx="336285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39112"/>
            <a:ext cx="303367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Claude - språkmodell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Resonnerer, skriver og sammenstiller. Genererer svar - som må verifiseres.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4418" y="1874520"/>
            <a:ext cx="336285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9010" y="2039112"/>
            <a:ext cx="303367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Google - søk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Finner kilder. Du leser og vurderer selv.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5876" y="1874520"/>
            <a:ext cx="336285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0468" y="2039112"/>
            <a:ext cx="303367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Bloomberg / FactSet - database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Strukturerte fakta. Presist - men uten resonnering.</a:t>
            </a:r>
          </a:p>
        </p:txBody>
      </p:sp>
      <p:pic>
        <p:nvPicPr>
          <p:cNvPr id="15" name="Picture 14" descr="llm-cla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227832"/>
            <a:ext cx="219456" cy="219456"/>
          </a:xfrm>
          <a:prstGeom prst="rect">
            <a:avLst/>
          </a:prstGeom>
        </p:spPr>
      </p:pic>
      <p:pic>
        <p:nvPicPr>
          <p:cNvPr id="16" name="Picture 15" descr="llm-open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227832"/>
            <a:ext cx="219456" cy="219456"/>
          </a:xfrm>
          <a:prstGeom prst="rect">
            <a:avLst/>
          </a:prstGeom>
        </p:spPr>
      </p:pic>
      <p:pic>
        <p:nvPicPr>
          <p:cNvPr id="17" name="Picture 16" descr="llm-gemi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208" y="3227832"/>
            <a:ext cx="219456" cy="219456"/>
          </a:xfrm>
          <a:prstGeom prst="rect">
            <a:avLst/>
          </a:prstGeom>
        </p:spPr>
      </p:pic>
      <p:pic>
        <p:nvPicPr>
          <p:cNvPr id="18" name="Picture 17" descr="llm-me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" y="3227832"/>
            <a:ext cx="219456" cy="219456"/>
          </a:xfrm>
          <a:prstGeom prst="rect">
            <a:avLst/>
          </a:prstGeom>
        </p:spPr>
      </p:pic>
      <p:pic>
        <p:nvPicPr>
          <p:cNvPr id="19" name="Picture 18" descr="llm-mist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8" y="3227832"/>
            <a:ext cx="219456" cy="219456"/>
          </a:xfrm>
          <a:prstGeom prst="rect">
            <a:avLst/>
          </a:prstGeom>
        </p:spPr>
      </p:pic>
      <p:pic>
        <p:nvPicPr>
          <p:cNvPr id="20" name="Picture 19" descr="llm-deepsee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5496" y="3227832"/>
            <a:ext cx="219456" cy="219456"/>
          </a:xfrm>
          <a:prstGeom prst="rect">
            <a:avLst/>
          </a:prstGeom>
        </p:spPr>
      </p:pic>
      <p:pic>
        <p:nvPicPr>
          <p:cNvPr id="21" name="Picture 20" descr="logo-goog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9010" y="3136392"/>
            <a:ext cx="310896" cy="310896"/>
          </a:xfrm>
          <a:prstGeom prst="rect">
            <a:avLst/>
          </a:prstGeom>
        </p:spPr>
      </p:pic>
      <p:pic>
        <p:nvPicPr>
          <p:cNvPr id="22" name="Picture 21" descr="logo-bloomber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0468" y="3145536"/>
            <a:ext cx="691394" cy="128016"/>
          </a:xfrm>
          <a:prstGeom prst="rect">
            <a:avLst/>
          </a:prstGeom>
        </p:spPr>
      </p:pic>
      <p:pic>
        <p:nvPicPr>
          <p:cNvPr id="23" name="Picture 22" descr="logo-factse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0468" y="3328416"/>
            <a:ext cx="660728" cy="128016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822960" y="489204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00176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Styrken</a:t>
            </a:r>
            <a:r>
              <a:rPr sz="1500" b="0">
                <a:solidFill>
                  <a:srgbClr val="1A1A1A"/>
                </a:solidFill>
                <a:latin typeface="Arial"/>
              </a:rPr>
              <a:t> ligger i kombinasjonen: Claude som analytiker på toppen av kildene deres.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ØKONOMISK BRUK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Kontekstvinduet - alt modellen ser i ett kall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2395728"/>
            <a:ext cx="851219" cy="342900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ctx-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45" y="3694176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187952"/>
            <a:ext cx="8512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System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4295" y="2395728"/>
            <a:ext cx="982175" cy="3429000"/>
          </a:xfrm>
          <a:prstGeom prst="rect">
            <a:avLst/>
          </a:prstGeom>
          <a:solidFill>
            <a:srgbClr val="003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eco-mc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358" y="3694176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4295" y="4187952"/>
            <a:ext cx="982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Verktøy &amp;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6586" y="2395728"/>
            <a:ext cx="1244089" cy="3429000"/>
          </a:xfrm>
          <a:prstGeom prst="rect">
            <a:avLst/>
          </a:prstGeom>
          <a:solidFill>
            <a:srgbClr val="00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tx-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606" y="3694176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96586" y="4187952"/>
            <a:ext cx="124408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Prosjekt &amp;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791" y="2395728"/>
            <a:ext cx="1506003" cy="3429000"/>
          </a:xfrm>
          <a:prstGeom prst="rect">
            <a:avLst/>
          </a:prstGeom>
          <a:solidFill>
            <a:srgbClr val="007C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eco-web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768" y="3694176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60791" y="4187952"/>
            <a:ext cx="15060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Hentet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materiale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910" y="2395728"/>
            <a:ext cx="1767916" cy="3429000"/>
          </a:xfrm>
          <a:prstGeom prst="rect">
            <a:avLst/>
          </a:prstGeom>
          <a:solidFill>
            <a:srgbClr val="82C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ctx-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8844" y="3694176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910" y="4187952"/>
            <a:ext cx="17679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Samtalehistorikk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4942" y="2395728"/>
            <a:ext cx="720262" cy="3429000"/>
          </a:xfrm>
          <a:prstGeom prst="rect">
            <a:avLst/>
          </a:prstGeom>
          <a:solidFill>
            <a:srgbClr val="C8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ctx-p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049" y="3694176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74942" y="4187952"/>
            <a:ext cx="72026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Din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melding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5320" y="2395728"/>
            <a:ext cx="1113132" cy="3429000"/>
          </a:xfrm>
          <a:prstGeom prst="rect">
            <a:avLst/>
          </a:prstGeom>
          <a:pattFill prst="ltUpDiag">
            <a:fgClr>
              <a:srgbClr val="CFD8E0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5320" y="4187952"/>
            <a:ext cx="11131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Arial"/>
              </a:rPr>
              <a:t>Ledig plass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395728"/>
            <a:ext cx="8305495" cy="3429000"/>
          </a:xfrm>
          <a:prstGeom prst="rect">
            <a:avLst/>
          </a:prstGeom>
          <a:noFill/>
          <a:ln w="2540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238183" y="4110228"/>
            <a:ext cx="420624" cy="0"/>
          </a:xfrm>
          <a:prstGeom prst="line">
            <a:avLst/>
          </a:prstGeom>
          <a:ln w="28575">
            <a:solidFill>
              <a:srgbClr val="001D6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768535" y="2395728"/>
            <a:ext cx="1600200" cy="342900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eco-llm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0891" y="3584448"/>
            <a:ext cx="475488" cy="47548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68535" y="418795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Svar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Hva er en plugin?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En ferdig pakke Claude kan bruke - her er delene den kan inneholde.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2249424"/>
            <a:ext cx="192627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14016"/>
            <a:ext cx="1597091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Kommandoer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Snarveier du kaller på selv, som /kurs.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7835" y="2249424"/>
            <a:ext cx="192627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2427" y="2414016"/>
            <a:ext cx="1597091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Skills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Oppskrifter Claude tar i bruk selv når du spør.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2710" y="2249424"/>
            <a:ext cx="192627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7302" y="2414016"/>
            <a:ext cx="1597091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Sub-agenter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Spesialiserte hjelpere som løser en oppgave selvstendig.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7585" y="2249424"/>
            <a:ext cx="192627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177" y="2414016"/>
            <a:ext cx="1597091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MCP-koblinger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Åpne koblinger til dine data og systemer.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42460" y="2249424"/>
            <a:ext cx="192627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7052" y="2414016"/>
            <a:ext cx="1597091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Hooks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Automatikk som utløses av hendelser.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KURSPLUGINEN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Kurset bor i en plugin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Alt kursstoff - timeplan, forarbeid, oppsummeringer, FAQ - pakket så Claude kan bruke det.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Innholdet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Én kilde: timeplan, FAQ og øktnotater for alle ti øktene - oppdateres etter hver økt.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6553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145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/kurs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Én kommando: neste økt på ti sekunder - dato, tema og forarbeidet.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6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4738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Skills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Oppskrifter Claude bruker selv når du spør: forbered meg, recap, FAQ - og «forklar».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3739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8331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MCP-server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Åpen kobling som gir Claude siste versjon av innholdet - alltid oppdatert.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484632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95604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Poenget:</a:t>
            </a:r>
            <a:r>
              <a:rPr sz="1500" b="0">
                <a:solidFill>
                  <a:srgbClr val="1A1A1A"/>
                </a:solidFill>
                <a:latin typeface="Arial"/>
              </a:rPr>
              <a:t> dette er mønsteret dere selv bygger i fase 2 - kurset er det første eksemplet.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17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Installer kurspluginen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Lenken kommer i chatten nå - instruksjonene ligger på siden.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Åpne lenken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req-bootcamp-plugin.vercel.app - alt du trenger står 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138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Legg til connectoren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Settings → Connectors → Add custom connector - lim inn adressen fra siden.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316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Si fra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Tommel opp når «vis timeplanen» svarer - vi hjelper der det stopper.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18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Spør kurset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Pluginen svarer på alt om kurset - prøv: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340864"/>
            <a:ext cx="1054577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«Hva er forarbeidet til neste økt?»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«Hva skjedde i økt 1 - lag en oppsummering til en kollega.»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«Forklar MCP for meg - helt enkelt.»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«Lag en REQ-profilert presentasjon om det vi nettopp gikk gjennom.»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89204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500176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Se på den siste:</a:t>
            </a:r>
            <a:r>
              <a:rPr sz="1500" b="0">
                <a:solidFill>
                  <a:srgbClr val="1A1A1A"/>
                </a:solidFill>
                <a:latin typeface="Arial"/>
              </a:rPr>
              <a:t> presentasjonen kommer med riktige REQ-farger og -bilder - pluginen kan mer enn å svare.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19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KILDEKRITIKK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Der det oftest går galt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AI kan finne på noe som høres riktig ut. Høyest risiko: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Tall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Beløp, vekstrater, multipler - sjekk alltid mot kilden.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6553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145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Sitater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Ordrett gjengivelse kan være konstruert.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6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4738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Navn og roller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Feil person, feil tittel, feil selskap.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3739" y="2249424"/>
            <a:ext cx="2464993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8331" y="2414016"/>
            <a:ext cx="2135809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Lov- og kildehenvisninger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Arial"/>
              </a:rPr>
              <a:t>Paragrafer og referanser som ikke finnes.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484632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95604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Regelen i finans:</a:t>
            </a:r>
            <a:r>
              <a:rPr sz="1500" b="0">
                <a:solidFill>
                  <a:srgbClr val="1A1A1A"/>
                </a:solidFill>
                <a:latin typeface="Arial"/>
              </a:rPr>
              <a:t> ingen tall eller kilder inn i en beslutning uten verifisering. Mer i uke 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Bli med i det delte prosjektet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Kurset bor i et Claude-prosjekt - dere lærer Projects ved å bruke det.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Åpne Claude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claude.ai eller desktop-appen - Team-kontoen til REQ.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138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Finn prosjektet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«REQ AI Bootcamp» - lenken kommer i chatten nå.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316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Si fra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Tommel opp når du er inne - vi hjelper der det stopper.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21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HANDS-ON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Din 1-times-oppgave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Oppgaven du tenkte på i forkant - den du bruker mer enn 1 time i uken på.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01952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Beskriv den for Claude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Kontekst: hva, for hvem, hvorfor. Mål og ønsket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138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Kjør den i to modeller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Samme prompt i Sonnet og Opus - sammenlign svar og hastighet.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316" y="2432304"/>
            <a:ext cx="32714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1D6C"/>
                </a:solidFill>
                <a:latin typeface="Arial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Vurder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Er svaret brukbart? Hva mangler? Hvilken modell ville du valgt?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22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Hva så vi?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1965960"/>
            <a:ext cx="1054577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Hva funket bedre enn du trodde?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Hvor bommet den - og skjønner du hvorfor?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600" b="0">
                <a:solidFill>
                  <a:srgbClr val="001D6C"/>
                </a:solidFill>
                <a:latin typeface="Arial"/>
              </a:rPr>
              <a:t>▪  </a:t>
            </a:r>
            <a:r>
              <a:rPr sz="1800" b="0">
                <a:solidFill>
                  <a:srgbClr val="1A1A1A"/>
                </a:solidFill>
                <a:latin typeface="Arial"/>
              </a:rPr>
              <a:t>Hvilken modell ville du valgt til akkurat din oppgave?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23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1D6C"/>
                </a:solidFill>
                <a:latin typeface="Arial"/>
              </a:rPr>
              <a:t>TIL NESTE UKE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Ukens oppdrag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196596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Kom med 2–3 use-cases fra din egen hverdag: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001D6C"/>
                </a:solidFill>
                <a:latin typeface="Arial"/>
              </a:rPr>
              <a:t>«Jeg bruker mer enn 1 time i uken på …»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206240"/>
            <a:ext cx="457200" cy="0"/>
          </a:xfrm>
          <a:prstGeom prst="line">
            <a:avLst/>
          </a:prstGeom>
          <a:ln w="25400">
            <a:solidFill>
              <a:srgbClr val="001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31596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Hvorfor:</a:t>
            </a:r>
            <a:r>
              <a:rPr sz="1500" b="0">
                <a:solidFill>
                  <a:srgbClr val="1A1A1A"/>
                </a:solidFill>
                <a:latin typeface="Arial"/>
              </a:rPr>
              <a:t> Vi sparrer på teknisk gjennomførbarhet - dette blir råstoffet til det du selv bygger fra uke 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AI Bootcamp for REQ · Uke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24</a:t>
            </a:r>
          </a:p>
        </p:txBody>
      </p:sp>
      <p:pic>
        <p:nvPicPr>
          <p:cNvPr id="4" name="Picture 3" descr="req-logo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368" y="324612"/>
            <a:ext cx="570407" cy="237744"/>
          </a:xfrm>
          <a:prstGeom prst="rect">
            <a:avLst/>
          </a:prstGeom>
        </p:spPr>
      </p:pic>
      <p:pic>
        <p:nvPicPr>
          <p:cNvPr id="5" name="Picture 4" descr="varden-wordmark-f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34" y="384048"/>
            <a:ext cx="754743" cy="118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Takk for i dag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Neste tirsdag: </a:t>
            </a:r>
            <a:r>
              <a:rPr sz="1600" b="0">
                <a:solidFill>
                  <a:srgbClr val="6B6B6B"/>
                </a:solidFill>
                <a:latin typeface="Arial"/>
              </a:rPr>
              <a:t>strukturert prompting - XML-tagger, gjenbrukbare maler, Projects, Artifacts og Memory.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Samme tid, samme sted - og på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Herman Holmøy · herman@vardenlab.com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Nicolay Liaaen Hagen · nicolay@vardenlab.com</a:t>
            </a:r>
          </a:p>
        </p:txBody>
      </p:sp>
      <p:pic>
        <p:nvPicPr>
          <p:cNvPr id="9" name="Picture 8" descr="varden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943600"/>
            <a:ext cx="1625600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7160" y="5897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×</a:t>
            </a:r>
          </a:p>
        </p:txBody>
      </p:sp>
      <p:pic>
        <p:nvPicPr>
          <p:cNvPr id="11" name="Picture 10" descr="req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5815584"/>
            <a:ext cx="1228570" cy="512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