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pn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pn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jp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9.jpg"/><Relationship Id="rId5" Type="http://schemas.openxmlformats.org/officeDocument/2006/relationships/image" Target="../media/image29.png"/><Relationship Id="rId6" Type="http://schemas.openxmlformats.org/officeDocument/2006/relationships/hyperlink" Target="https://openai.com/index/balyasny-asset-management/" TargetMode="External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Relationship Id="rId11" Type="http://schemas.openxmlformats.org/officeDocument/2006/relationships/image" Target="../media/image37.png"/><Relationship Id="rId12" Type="http://schemas.openxmlformats.org/officeDocument/2006/relationships/image" Target="../media/image38.png"/><Relationship Id="rId13" Type="http://schemas.openxmlformats.org/officeDocument/2006/relationships/image" Target="../media/image39.png"/><Relationship Id="rId14" Type="http://schemas.openxmlformats.org/officeDocument/2006/relationships/image" Target="../media/image40.png"/><Relationship Id="rId15" Type="http://schemas.openxmlformats.org/officeDocument/2006/relationships/image" Target="../media/image41.png"/><Relationship Id="rId1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image" Target="../media/image20.png"/><Relationship Id="rId8" Type="http://schemas.openxmlformats.org/officeDocument/2006/relationships/image" Target="../media/image41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Relationship Id="rId12" Type="http://schemas.openxmlformats.org/officeDocument/2006/relationships/image" Target="../media/image55.png"/><Relationship Id="rId1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Relationship Id="rId8" Type="http://schemas.openxmlformats.org/officeDocument/2006/relationships/image" Target="../media/image60.png"/><Relationship Id="rId9" Type="http://schemas.openxmlformats.org/officeDocument/2006/relationships/image" Target="../media/image61.png"/><Relationship Id="rId10" Type="http://schemas.openxmlformats.org/officeDocument/2006/relationships/image" Target="../media/image37.png"/><Relationship Id="rId11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45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1D6C"/>
                </a:solidFill>
                <a:latin typeface="Arial"/>
              </a:rPr>
              <a:t>KURS · UKE 1 AV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40280"/>
            <a:ext cx="1054577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1A1A1A"/>
                </a:solidFill>
                <a:latin typeface="Arial"/>
              </a:rPr>
              <a:t>AI Bootcamp for REQ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6B6B6B"/>
                </a:solidFill>
                <a:latin typeface="Arial"/>
              </a:rPr>
              <a:t>Introduksjon, landskapet og modellvalg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Arial"/>
              </a:rPr>
              <a:t>Tirsdag 18. august 2026  ·  08:30–09:30  ·  Sommerrogata 17, Oslo</a:t>
            </a:r>
          </a:p>
        </p:txBody>
      </p:sp>
      <p:pic>
        <p:nvPicPr>
          <p:cNvPr id="6" name="Picture 5" descr="varden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943600"/>
            <a:ext cx="1625600" cy="256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77160" y="58978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Arial"/>
              </a:rPr>
              <a:t>×</a:t>
            </a:r>
          </a:p>
        </p:txBody>
      </p:sp>
      <p:pic>
        <p:nvPicPr>
          <p:cNvPr id="8" name="Picture 7" descr="req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7200" y="5815584"/>
            <a:ext cx="1228570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1D6C"/>
                </a:solidFill>
                <a:latin typeface="Arial"/>
              </a:rPr>
              <a:t>VELKOMMEN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Agenda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1874520"/>
            <a:ext cx="1054577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Velkommen - hvem er Varden</a:t>
            </a:r>
          </a:p>
          <a:p>
            <a:pPr algn="l">
              <a:spcAft>
                <a:spcPts val="1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Målet vårt etter ti uker</a:t>
            </a:r>
          </a:p>
          <a:p>
            <a:pPr algn="l">
              <a:spcAft>
                <a:spcPts val="1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Hvorfor nå - hvor vi er på kurven</a:t>
            </a:r>
          </a:p>
          <a:p>
            <a:pPr algn="l">
              <a:spcAft>
                <a:spcPts val="1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Claude, verktøyene og modellene - slik jobber vi</a:t>
            </a:r>
          </a:p>
          <a:p>
            <a:pPr algn="l">
              <a:spcAft>
                <a:spcPts val="1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Hands-on - installer kurspluginen og spør kurset</a:t>
            </a:r>
          </a:p>
          <a:p>
            <a:pPr algn="l">
              <a:spcAft>
                <a:spcPts val="1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Veien til uke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1D6C"/>
                </a:solidFill>
                <a:latin typeface="Arial"/>
              </a:rPr>
              <a:t>HVEM VI 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Varden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Arial"/>
              </a:rPr>
              <a:t>Et AI-studio i Oslo og London.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1901952"/>
            <a:ext cx="10545775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nicola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295144"/>
            <a:ext cx="2103120" cy="2103120"/>
          </a:xfrm>
          <a:prstGeom prst="ellipse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4535424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Arial"/>
              </a:rPr>
              <a:t>Nicolay Liaaen Hagen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CEO &amp; Co-Founder</a:t>
            </a:r>
          </a:p>
        </p:txBody>
      </p:sp>
      <p:pic>
        <p:nvPicPr>
          <p:cNvPr id="12" name="Picture 11" descr="ann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7178" y="2295144"/>
            <a:ext cx="2103120" cy="2103120"/>
          </a:xfrm>
          <a:prstGeom prst="ellipse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37178" y="4535424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Arial"/>
              </a:rPr>
              <a:t>Anna Schrimpf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President &amp; Co-Founder</a:t>
            </a:r>
          </a:p>
        </p:txBody>
      </p:sp>
      <p:pic>
        <p:nvPicPr>
          <p:cNvPr id="14" name="Picture 13" descr="willia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1396" y="2295144"/>
            <a:ext cx="2103120" cy="2103120"/>
          </a:xfrm>
          <a:prstGeom prst="ellipse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51396" y="4535424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Arial"/>
              </a:rPr>
              <a:t>William Skaug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Co-Founder</a:t>
            </a:r>
          </a:p>
        </p:txBody>
      </p:sp>
      <p:pic>
        <p:nvPicPr>
          <p:cNvPr id="16" name="Picture 15" descr="herma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5615" y="2295144"/>
            <a:ext cx="2103120" cy="2103120"/>
          </a:xfrm>
          <a:prstGeom prst="ellipse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265615" y="4535424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Arial"/>
              </a:rPr>
              <a:t>Herman Holmøy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Co-Founder</a:t>
            </a:r>
          </a:p>
        </p:txBody>
      </p:sp>
      <p:pic>
        <p:nvPicPr>
          <p:cNvPr id="18" name="Picture 17" descr="inst-nbim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965" y="5632704"/>
            <a:ext cx="310896" cy="310896"/>
          </a:xfrm>
          <a:prstGeom prst="rect">
            <a:avLst/>
          </a:prstGeom>
        </p:spPr>
      </p:pic>
      <p:pic>
        <p:nvPicPr>
          <p:cNvPr id="19" name="Picture 18" descr="inst-rysta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82909" y="5687568"/>
            <a:ext cx="804672" cy="201168"/>
          </a:xfrm>
          <a:prstGeom prst="rect">
            <a:avLst/>
          </a:prstGeom>
        </p:spPr>
      </p:pic>
      <p:pic>
        <p:nvPicPr>
          <p:cNvPr id="20" name="Picture 19" descr="inst-carnegi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71629" y="5669280"/>
            <a:ext cx="494508" cy="237744"/>
          </a:xfrm>
          <a:prstGeom prst="rect">
            <a:avLst/>
          </a:prstGeom>
        </p:spPr>
      </p:pic>
      <p:pic>
        <p:nvPicPr>
          <p:cNvPr id="21" name="Picture 20" descr="inst-arkwrigh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50185" y="5696712"/>
            <a:ext cx="860239" cy="182880"/>
          </a:xfrm>
          <a:prstGeom prst="rect">
            <a:avLst/>
          </a:prstGeom>
        </p:spPr>
      </p:pic>
      <p:pic>
        <p:nvPicPr>
          <p:cNvPr id="22" name="Picture 21" descr="inst-avian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94472" y="5687568"/>
            <a:ext cx="687440" cy="201168"/>
          </a:xfrm>
          <a:prstGeom prst="rect">
            <a:avLst/>
          </a:prstGeom>
        </p:spPr>
      </p:pic>
      <p:pic>
        <p:nvPicPr>
          <p:cNvPr id="23" name="Picture 22" descr="inst-comstruc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65960" y="5696712"/>
            <a:ext cx="757015" cy="182880"/>
          </a:xfrm>
          <a:prstGeom prst="rect">
            <a:avLst/>
          </a:prstGeom>
        </p:spPr>
      </p:pic>
      <p:pic>
        <p:nvPicPr>
          <p:cNvPr id="24" name="Picture 23" descr="inst-ntnu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07023" y="5687568"/>
            <a:ext cx="1058779" cy="201168"/>
          </a:xfrm>
          <a:prstGeom prst="rect">
            <a:avLst/>
          </a:prstGeom>
        </p:spPr>
      </p:pic>
      <p:pic>
        <p:nvPicPr>
          <p:cNvPr id="25" name="Picture 24" descr="inst-mit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649850" y="5678424"/>
            <a:ext cx="771713" cy="219456"/>
          </a:xfrm>
          <a:prstGeom prst="rect">
            <a:avLst/>
          </a:prstGeom>
        </p:spPr>
      </p:pic>
      <p:pic>
        <p:nvPicPr>
          <p:cNvPr id="26" name="Picture 25" descr="inst-princeton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805611" y="5623560"/>
            <a:ext cx="258015" cy="329184"/>
          </a:xfrm>
          <a:prstGeom prst="rect">
            <a:avLst/>
          </a:prstGeom>
        </p:spPr>
      </p:pic>
      <p:pic>
        <p:nvPicPr>
          <p:cNvPr id="27" name="Picture 26" descr="inst-berkeley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447674" y="5669280"/>
            <a:ext cx="756055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1D6C"/>
                </a:solidFill>
                <a:latin typeface="Arial"/>
              </a:rPr>
              <a:t>PROSJEKTER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Hva vi bygger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2960" y="1828800"/>
            <a:ext cx="3362858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993392"/>
            <a:ext cx="3033674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Arial"/>
              </a:rPr>
              <a:t>Valora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AI for norsk næringseiendom - matrikkel, regulering, SSB og Brønnøysund i ett verktøy.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14418" y="1828800"/>
            <a:ext cx="3362858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9010" y="1993392"/>
            <a:ext cx="3033674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Arial"/>
              </a:rPr>
              <a:t>Project Intelligence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Prosjekthjernen vår: AI-lag over prosjekter, e-post, kalender og dokumenter.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5876" y="1828800"/>
            <a:ext cx="3362858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0468" y="1993392"/>
            <a:ext cx="3033674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Arial"/>
              </a:rPr>
              <a:t>Toluma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Family office - AI i kapitalforvaltningen.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611880"/>
            <a:ext cx="3362858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776472"/>
            <a:ext cx="3033674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Arial"/>
              </a:rPr>
              <a:t>Tom Wilhelmsen Stiftelse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Skreddersydd programvare for raskere tildelings- og søknadsbehandling.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14418" y="3611880"/>
            <a:ext cx="3362858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9010" y="3776472"/>
            <a:ext cx="3033674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Arial"/>
              </a:rPr>
              <a:t>Sykehusgruppe, Tyskland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Rådgivning og integrasjon - AI og sky.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876" y="3611880"/>
            <a:ext cx="3362858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0468" y="3776472"/>
            <a:ext cx="3033674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Arial"/>
              </a:rPr>
              <a:t>Legal clinics, Storbritannia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AI-støttet inntak og saksbehandling for rettshjelpsklinikker.</a:t>
            </a:r>
          </a:p>
        </p:txBody>
      </p:sp>
      <p:pic>
        <p:nvPicPr>
          <p:cNvPr id="21" name="Picture 20" descr="logo-valora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0516" y="1993392"/>
            <a:ext cx="280710" cy="274320"/>
          </a:xfrm>
          <a:prstGeom prst="rect">
            <a:avLst/>
          </a:prstGeom>
        </p:spPr>
      </p:pic>
      <p:pic>
        <p:nvPicPr>
          <p:cNvPr id="22" name="Picture 21" descr="logo-p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8364" y="1993392"/>
            <a:ext cx="274320" cy="274320"/>
          </a:xfrm>
          <a:prstGeom prst="rect">
            <a:avLst/>
          </a:prstGeom>
        </p:spPr>
      </p:pic>
      <p:pic>
        <p:nvPicPr>
          <p:cNvPr id="23" name="Picture 22" descr="logo-tolum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6458" y="1993392"/>
            <a:ext cx="667685" cy="164592"/>
          </a:xfrm>
          <a:prstGeom prst="rect">
            <a:avLst/>
          </a:prstGeom>
        </p:spPr>
      </p:pic>
      <p:pic>
        <p:nvPicPr>
          <p:cNvPr id="24" name="Picture 23" descr="logo-tws-m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07745" y="3776472"/>
            <a:ext cx="413481" cy="310896"/>
          </a:xfrm>
          <a:prstGeom prst="rect">
            <a:avLst/>
          </a:prstGeom>
        </p:spPr>
      </p:pic>
      <p:pic>
        <p:nvPicPr>
          <p:cNvPr id="25" name="Picture 24" descr="icon-hospit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0076" y="3776472"/>
            <a:ext cx="292608" cy="292608"/>
          </a:xfrm>
          <a:prstGeom prst="rect">
            <a:avLst/>
          </a:prstGeom>
        </p:spPr>
      </p:pic>
      <p:pic>
        <p:nvPicPr>
          <p:cNvPr id="26" name="Picture 25" descr="icon-leg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11535" y="3776472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5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1D6C"/>
                </a:solidFill>
                <a:latin typeface="Arial"/>
              </a:rPr>
              <a:t>MÅLET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Målsetningen vår etter ti uker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2960" y="1828800"/>
            <a:ext cx="5158587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993392"/>
            <a:ext cx="4829403" cy="1133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1D6C"/>
                </a:solidFill>
                <a:latin typeface="Arial"/>
              </a:rPr>
              <a:t>01  </a:t>
            </a:r>
            <a:r>
              <a:rPr sz="1400" b="1">
                <a:solidFill>
                  <a:srgbClr val="1A1A1A"/>
                </a:solidFill>
                <a:latin typeface="Arial"/>
              </a:rPr>
              <a:t>Full kontroll på Claude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Projects, Artifacts og daglig arbeidsflyt sitter i fingrene.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0147" y="1828800"/>
            <a:ext cx="5158587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4829403" cy="1133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1D6C"/>
                </a:solidFill>
                <a:latin typeface="Arial"/>
              </a:rPr>
              <a:t>02  </a:t>
            </a:r>
            <a:r>
              <a:rPr sz="1400" b="1">
                <a:solidFill>
                  <a:srgbClr val="1A1A1A"/>
                </a:solidFill>
                <a:latin typeface="Arial"/>
              </a:rPr>
              <a:t>MCP, plugins og skills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Du kobler Claude til egne data og pakker det så hele REQ kan dele.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520440"/>
            <a:ext cx="5158587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85032"/>
            <a:ext cx="4829403" cy="1133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1D6C"/>
                </a:solidFill>
                <a:latin typeface="Arial"/>
              </a:rPr>
              <a:t>03  </a:t>
            </a:r>
            <a:r>
              <a:rPr sz="1400" b="1">
                <a:solidFill>
                  <a:srgbClr val="1A1A1A"/>
                </a:solidFill>
                <a:latin typeface="Arial"/>
              </a:rPr>
              <a:t>Bygg dine egne agenter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Fra bruk til bygging: verktøy som jobber selvstendig mot et mål.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0147" y="3520440"/>
            <a:ext cx="5158587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3685032"/>
            <a:ext cx="4829403" cy="1133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1D6C"/>
                </a:solidFill>
                <a:latin typeface="Arial"/>
              </a:rPr>
              <a:t>04  </a:t>
            </a:r>
            <a:r>
              <a:rPr sz="1400" b="1">
                <a:solidFill>
                  <a:srgbClr val="1A1A1A"/>
                </a:solidFill>
                <a:latin typeface="Arial"/>
              </a:rPr>
              <a:t>Et steg mot AI-native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Nærmere en hverdag der AI er det naturlige førstevalget.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1D6C"/>
                </a:solidFill>
                <a:latin typeface="Arial"/>
              </a:rPr>
              <a:t>HVORFOR NÅ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Hvor på kurven er vi?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metr-time-horiz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783080"/>
            <a:ext cx="5639126" cy="3291840"/>
          </a:xfrm>
          <a:prstGeom prst="rect">
            <a:avLst/>
          </a:prstGeom>
          <a:ln w="9525">
            <a:solidFill>
              <a:srgbClr val="E5E5E5"/>
            </a:solidFill>
          </a:ln>
        </p:spPr>
      </p:pic>
      <p:pic>
        <p:nvPicPr>
          <p:cNvPr id="10" name="Picture 9" descr="capex-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6240" y="1783080"/>
            <a:ext cx="4162495" cy="3291840"/>
          </a:xfrm>
          <a:prstGeom prst="rect">
            <a:avLst/>
          </a:prstGeom>
          <a:ln w="9525">
            <a:solidFill>
              <a:srgbClr val="E5E5E5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22960" y="5184648"/>
            <a:ext cx="5639126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Arial"/>
              </a:rPr>
              <a:t>Kapabilitet: </a:t>
            </a:r>
            <a:r>
              <a:rPr sz="1200" b="0">
                <a:solidFill>
                  <a:srgbClr val="6B6B6B"/>
                </a:solidFill>
                <a:latin typeface="Arial"/>
              </a:rPr>
              <a:t>oppgavelengden AI løser alene dobles hver ~4.–6. måned - i dag over en arbeidsdag. (METR «Time Horizon 1.1», jan.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6240" y="5184648"/>
            <a:ext cx="416249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Arial"/>
              </a:rPr>
              <a:t>Investering: </a:t>
            </a:r>
            <a:r>
              <a:rPr sz="1200" b="0">
                <a:solidFill>
                  <a:srgbClr val="6B6B6B"/>
                </a:solidFill>
                <a:latin typeface="Arial"/>
              </a:rPr>
              <a:t>firedoblet siden GPT-4 - og datasentrene bak tallene er ennå ikke på nett. (Epoch AI)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5806440"/>
            <a:ext cx="457200" cy="0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5916168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Poenget:</a:t>
            </a:r>
            <a:r>
              <a:rPr sz="1500" b="0">
                <a:solidFill>
                  <a:srgbClr val="1A1A1A"/>
                </a:solidFill>
                <a:latin typeface="Arial"/>
              </a:rPr>
              <a:t> Kapasiteten er kjøpt, men ikke bygget - de nyeste brikkene er ikke engang i drift. Modellene dere lærer på i dag er de dårligste dere noen gang kommer til å bruke.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7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pic>
        <p:nvPicPr>
          <p:cNvPr id="6" name="Picture 5" descr="frontier-cur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48" y="457200"/>
            <a:ext cx="11315400" cy="5349240"/>
          </a:xfrm>
          <a:prstGeom prst="rect">
            <a:avLst/>
          </a:prstGeom>
          <a:ln w="9525">
            <a:solidFill>
              <a:srgbClr val="E5E5E5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58978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Kilde:  Epoch AI - Capabilities Index (ECI)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8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pic>
        <p:nvPicPr>
          <p:cNvPr id="6" name="Picture 5" descr="frontier-clau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76" y="457200"/>
            <a:ext cx="11431145" cy="5349240"/>
          </a:xfrm>
          <a:prstGeom prst="rect">
            <a:avLst/>
          </a:prstGeom>
          <a:ln w="9525">
            <a:solidFill>
              <a:srgbClr val="E5E5E5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58978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Kilde:  Epoch AI - Capabilities Index (ECI)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9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1D6C"/>
                </a:solidFill>
                <a:latin typeface="Arial"/>
              </a:rPr>
              <a:t>HVORFOR NÅ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AI i produksjon i andre fond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Arial"/>
              </a:rPr>
              <a:t>To fond der dette allerede er hverdagen.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1901952"/>
            <a:ext cx="10545775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22960" y="2295144"/>
            <a:ext cx="5158587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nst-nbim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8043" y="2496312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24128" y="2551176"/>
            <a:ext cx="42167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NBIM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990088"/>
            <a:ext cx="4756251" cy="1069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Arial"/>
              </a:rPr>
              <a:t>Leser selskapsrapporter og nyheter på tvers av rundt 9 000 selskaper. Oversikten som før tok dager, tar nå minutter. Bemanningen er uendret.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2295144"/>
            <a:ext cx="5158587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-balyasn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5230" y="2496312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11315" y="2551176"/>
            <a:ext cx="42167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Balyasny Asset Management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1315" y="2990088"/>
            <a:ext cx="4756251" cy="1069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Arial"/>
              </a:rPr>
              <a:t>Makroanalyser som før tok to dager, gjøres på 30 minutter. 95 prosent av investeringsteamene bruker plattformen.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2960" y="4892040"/>
            <a:ext cx="457200" cy="0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5001768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Poenget:</a:t>
            </a:r>
            <a:r>
              <a:rPr sz="1500" b="0">
                <a:solidFill>
                  <a:srgbClr val="1A1A1A"/>
                </a:solidFill>
                <a:latin typeface="Arial"/>
              </a:rPr>
              <a:t> dybden som før krevde et helt team, nå uten å øke bemanningen.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199632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Kilder:  NBIM - Tangen til Stortinget, mai 2025     ·     Balyasny - </a:t>
            </a:r>
            <a:r>
              <a:rPr sz="950" u="sng">
                <a:solidFill>
                  <a:srgbClr val="6B6B6B"/>
                </a:solidFill>
                <a:latin typeface="Arial"/>
                <a:hlinkClick r:id="rId6"/>
              </a:rPr>
              <a:t>OpenAI-casestudie, 2024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1D6C"/>
                </a:solidFill>
                <a:latin typeface="Arial"/>
              </a:rPr>
              <a:t>KARTET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Planen de neste 10 ukene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2960" y="4418808"/>
            <a:ext cx="4163444" cy="1159032"/>
          </a:xfrm>
          <a:prstGeom prst="rect">
            <a:avLst/>
          </a:prstGeom>
          <a:solidFill>
            <a:srgbClr val="E6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660136"/>
            <a:ext cx="4126868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1D6C"/>
                </a:solidFill>
                <a:latin typeface="Arial"/>
              </a:rPr>
              <a:t>FASE 1 · UKE 1–4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1A1A1A"/>
                </a:solidFill>
                <a:latin typeface="Arial"/>
              </a:rPr>
              <a:t>Grunnlaget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Fra null til trygg daglig bruk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41268" y="3354502"/>
            <a:ext cx="3108867" cy="2223338"/>
          </a:xfrm>
          <a:prstGeom prst="rect">
            <a:avLst/>
          </a:prstGeom>
          <a:solidFill>
            <a:srgbClr val="D4D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7844" y="5660136"/>
            <a:ext cx="3072291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1D6C"/>
                </a:solidFill>
                <a:latin typeface="Arial"/>
              </a:rPr>
              <a:t>FASE 2 · UKE 5–7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1A1A1A"/>
                </a:solidFill>
                <a:latin typeface="Arial"/>
              </a:rPr>
              <a:t>Bygge og automatisere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Vendepunktet: fra bruk til bygging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4999" y="1828800"/>
            <a:ext cx="3108867" cy="3749040"/>
          </a:xfrm>
          <a:prstGeom prst="rect">
            <a:avLst/>
          </a:prstGeom>
          <a:solidFill>
            <a:srgbClr val="BDC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1575" y="5660136"/>
            <a:ext cx="3072291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1D6C"/>
                </a:solidFill>
                <a:latin typeface="Arial"/>
              </a:rPr>
              <a:t>FASE 3 · UKE 8–10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1A1A1A"/>
                </a:solidFill>
                <a:latin typeface="Arial"/>
              </a:rPr>
              <a:t>Forankring og leveranse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Alle har bygget noe eget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1350248" y="5342315"/>
            <a:ext cx="263644" cy="6925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613892" y="5326739"/>
            <a:ext cx="263645" cy="15576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877537" y="5304410"/>
            <a:ext cx="263644" cy="22329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141181" y="5276132"/>
            <a:ext cx="263644" cy="28278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404825" y="5242405"/>
            <a:ext cx="263644" cy="33727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668469" y="5203586"/>
            <a:ext cx="263645" cy="38819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932114" y="5159948"/>
            <a:ext cx="263644" cy="43638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195758" y="5111710"/>
            <a:ext cx="263644" cy="48238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459402" y="5059053"/>
            <a:ext cx="263644" cy="52657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723046" y="5002131"/>
            <a:ext cx="263645" cy="56922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3986691" y="4941077"/>
            <a:ext cx="263644" cy="61054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4250335" y="4876008"/>
            <a:ext cx="263644" cy="65069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4513979" y="4807027"/>
            <a:ext cx="263644" cy="68981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777623" y="4734227"/>
            <a:ext cx="263645" cy="72800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041268" y="4657693"/>
            <a:ext cx="263644" cy="76534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304912" y="4577501"/>
            <a:ext cx="263644" cy="80192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568556" y="4493721"/>
            <a:ext cx="263644" cy="83780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5832200" y="4406418"/>
            <a:ext cx="263645" cy="87303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6095845" y="4315651"/>
            <a:ext cx="263644" cy="90767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6359489" y="4221478"/>
            <a:ext cx="263644" cy="94173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623133" y="4123949"/>
            <a:ext cx="263644" cy="97529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6886777" y="4023113"/>
            <a:ext cx="263645" cy="100836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7150422" y="3919016"/>
            <a:ext cx="263644" cy="104097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414066" y="3811702"/>
            <a:ext cx="263644" cy="107314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7677710" y="3701212"/>
            <a:ext cx="263644" cy="110490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941354" y="3587583"/>
            <a:ext cx="263645" cy="113629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204999" y="3470853"/>
            <a:ext cx="263644" cy="116730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8468643" y="3351057"/>
            <a:ext cx="263644" cy="119796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8732287" y="3228227"/>
            <a:ext cx="263644" cy="122830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8995931" y="3102397"/>
            <a:ext cx="263645" cy="125830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9259576" y="2973595"/>
            <a:ext cx="263644" cy="128802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9523220" y="2841851"/>
            <a:ext cx="263644" cy="131744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9786864" y="2707194"/>
            <a:ext cx="263644" cy="134657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0050508" y="2569649"/>
            <a:ext cx="263645" cy="137545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0314153" y="2429243"/>
            <a:ext cx="263644" cy="140406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0577797" y="2286000"/>
            <a:ext cx="263644" cy="143243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1194800" y="519379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1D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94800" y="5244084"/>
            <a:ext cx="31089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01D6C"/>
                </a:solidFill>
                <a:latin typeface="Arial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8728" y="4818888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Fundament I</a:t>
            </a:r>
          </a:p>
        </p:txBody>
      </p:sp>
      <p:sp>
        <p:nvSpPr>
          <p:cNvPr id="54" name="Oval 53"/>
          <p:cNvSpPr/>
          <p:nvPr/>
        </p:nvSpPr>
        <p:spPr>
          <a:xfrm>
            <a:off x="2249377" y="5120684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1D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249377" y="5170976"/>
            <a:ext cx="31089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01D6C"/>
                </a:solidFill>
                <a:latin typeface="Arial"/>
              </a:rP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73305" y="474578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Fundament II</a:t>
            </a:r>
          </a:p>
        </p:txBody>
      </p:sp>
      <p:sp>
        <p:nvSpPr>
          <p:cNvPr id="57" name="Oval 56"/>
          <p:cNvSpPr/>
          <p:nvPr/>
        </p:nvSpPr>
        <p:spPr>
          <a:xfrm>
            <a:off x="3303954" y="495626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1D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03954" y="5006554"/>
            <a:ext cx="31089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01D6C"/>
                </a:solidFill>
                <a:latin typeface="Arial"/>
              </a:rP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27882" y="4581358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Skriving &amp; Office</a:t>
            </a:r>
          </a:p>
        </p:txBody>
      </p:sp>
      <p:sp>
        <p:nvSpPr>
          <p:cNvPr id="60" name="Oval 59"/>
          <p:cNvSpPr/>
          <p:nvPr/>
        </p:nvSpPr>
        <p:spPr>
          <a:xfrm>
            <a:off x="4358531" y="4720560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1D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58531" y="4770852"/>
            <a:ext cx="31089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01D6C"/>
                </a:solidFill>
                <a:latin typeface="Arial"/>
              </a:rPr>
              <a:t>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82459" y="4345656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Research &amp; kilder</a:t>
            </a:r>
          </a:p>
        </p:txBody>
      </p:sp>
      <p:sp>
        <p:nvSpPr>
          <p:cNvPr id="63" name="Oval 62"/>
          <p:cNvSpPr/>
          <p:nvPr/>
        </p:nvSpPr>
        <p:spPr>
          <a:xfrm>
            <a:off x="5413108" y="4422053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1D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13108" y="4472345"/>
            <a:ext cx="31089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01D6C"/>
                </a:solidFill>
                <a:latin typeface="Arial"/>
              </a:rP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37036" y="4047149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Repeterbar analyse</a:t>
            </a:r>
          </a:p>
        </p:txBody>
      </p:sp>
      <p:sp>
        <p:nvSpPr>
          <p:cNvPr id="66" name="Oval 65"/>
          <p:cNvSpPr/>
          <p:nvPr/>
        </p:nvSpPr>
        <p:spPr>
          <a:xfrm>
            <a:off x="6467685" y="4066030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1D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67685" y="4116322"/>
            <a:ext cx="31089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01D6C"/>
                </a:solidFill>
                <a:latin typeface="Arial"/>
              </a:rPr>
              <a:t>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91613" y="3691126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Deres use-cases</a:t>
            </a:r>
          </a:p>
        </p:txBody>
      </p:sp>
      <p:sp>
        <p:nvSpPr>
          <p:cNvPr id="69" name="Oval 68"/>
          <p:cNvSpPr/>
          <p:nvPr/>
        </p:nvSpPr>
        <p:spPr>
          <a:xfrm>
            <a:off x="7522262" y="3656254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1D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522262" y="3706546"/>
            <a:ext cx="31089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01D6C"/>
                </a:solidFill>
                <a:latin typeface="Arial"/>
              </a:rPr>
              <a:t>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46190" y="328135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MCP &amp; agenter</a:t>
            </a:r>
          </a:p>
        </p:txBody>
      </p:sp>
      <p:sp>
        <p:nvSpPr>
          <p:cNvPr id="72" name="Oval 71"/>
          <p:cNvSpPr/>
          <p:nvPr/>
        </p:nvSpPr>
        <p:spPr>
          <a:xfrm>
            <a:off x="8576839" y="3195609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1D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576839" y="3245901"/>
            <a:ext cx="31089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01D6C"/>
                </a:solidFill>
                <a:latin typeface="Arial"/>
              </a:rPr>
              <a:t>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00767" y="2820705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Trygg bruk</a:t>
            </a:r>
          </a:p>
        </p:txBody>
      </p:sp>
      <p:sp>
        <p:nvSpPr>
          <p:cNvPr id="75" name="Oval 74"/>
          <p:cNvSpPr/>
          <p:nvPr/>
        </p:nvSpPr>
        <p:spPr>
          <a:xfrm>
            <a:off x="9631416" y="2686403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1D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631416" y="2736695"/>
            <a:ext cx="31089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01D6C"/>
                </a:solidFill>
                <a:latin typeface="Arial"/>
              </a:rPr>
              <a:t>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55344" y="2311499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Forankring</a:t>
            </a:r>
          </a:p>
        </p:txBody>
      </p:sp>
      <p:sp>
        <p:nvSpPr>
          <p:cNvPr id="78" name="Oval 77"/>
          <p:cNvSpPr/>
          <p:nvPr/>
        </p:nvSpPr>
        <p:spPr>
          <a:xfrm>
            <a:off x="10685993" y="213055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1D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685993" y="2180844"/>
            <a:ext cx="31089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01D6C"/>
                </a:solidFill>
                <a:latin typeface="Arial"/>
              </a:rP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98441" y="1755648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Leveranse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11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1D6C"/>
                </a:solidFill>
                <a:latin typeface="Arial"/>
              </a:rPr>
              <a:t>ØKOSYSTEMET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Claude-økosystemet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Arial"/>
              </a:rPr>
              <a:t>Konseptene er de samme uansett modell - bare motoren i bunn byttes.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1901952"/>
            <a:ext cx="10545775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22960" y="2194560"/>
            <a:ext cx="340553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on-eco-skil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2468880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17904" y="2331720"/>
            <a:ext cx="256428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A1A1A"/>
                </a:solidFill>
                <a:latin typeface="Arial"/>
              </a:rPr>
              <a:t>Skills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Arial"/>
              </a:rPr>
              <a:t>Faste oppskrifter for én oppgave.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3082" y="2194560"/>
            <a:ext cx="340553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eco-mc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7674" y="2468880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88026" y="2331720"/>
            <a:ext cx="256428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A1A1A"/>
                </a:solidFill>
                <a:latin typeface="Arial"/>
              </a:rPr>
              <a:t>MCP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Arial"/>
              </a:rPr>
              <a:t>Kobler Claude til deres data og systemer.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3204" y="2194560"/>
            <a:ext cx="340553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eco-age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7796" y="2468880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58148" y="2331720"/>
            <a:ext cx="256428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A1A1A"/>
                </a:solidFill>
                <a:latin typeface="Arial"/>
              </a:rPr>
              <a:t>Agenter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Arial"/>
              </a:rPr>
              <a:t>Jobber selvstendig mot et mål.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525725" y="3127248"/>
            <a:ext cx="0" cy="100584"/>
          </a:xfrm>
          <a:prstGeom prst="line">
            <a:avLst/>
          </a:prstGeom>
          <a:ln w="12700">
            <a:solidFill>
              <a:srgbClr val="6B6B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5847" y="3127248"/>
            <a:ext cx="0" cy="100584"/>
          </a:xfrm>
          <a:prstGeom prst="line">
            <a:avLst/>
          </a:prstGeom>
          <a:ln w="12700">
            <a:solidFill>
              <a:srgbClr val="6B6B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665969" y="3127248"/>
            <a:ext cx="0" cy="100584"/>
          </a:xfrm>
          <a:prstGeom prst="line">
            <a:avLst/>
          </a:prstGeom>
          <a:ln w="12700">
            <a:solidFill>
              <a:srgbClr val="6B6B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3227832"/>
            <a:ext cx="10545775" cy="932688"/>
          </a:xfrm>
          <a:prstGeom prst="rect">
            <a:avLst/>
          </a:prstGeom>
          <a:solidFill>
            <a:srgbClr val="EC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on-eco-plugi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" y="3502152"/>
            <a:ext cx="384048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17904" y="3364992"/>
            <a:ext cx="9704527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A1A1A"/>
                </a:solidFill>
                <a:latin typeface="Arial"/>
              </a:rPr>
              <a:t>Plugins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Arial"/>
              </a:rPr>
              <a:t>Skills og koblinger i én pakke - del med hele REQ. Dette kurset bor i sitt eget plugin.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525725" y="4160520"/>
            <a:ext cx="0" cy="100584"/>
          </a:xfrm>
          <a:prstGeom prst="line">
            <a:avLst/>
          </a:prstGeom>
          <a:ln w="12700">
            <a:solidFill>
              <a:srgbClr val="6B6B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4160520"/>
            <a:ext cx="0" cy="100584"/>
          </a:xfrm>
          <a:prstGeom prst="line">
            <a:avLst/>
          </a:prstGeom>
          <a:ln w="12700">
            <a:solidFill>
              <a:srgbClr val="6B6B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665969" y="4160520"/>
            <a:ext cx="0" cy="100584"/>
          </a:xfrm>
          <a:prstGeom prst="line">
            <a:avLst/>
          </a:prstGeom>
          <a:ln w="12700">
            <a:solidFill>
              <a:srgbClr val="6B6B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822960" y="4261104"/>
            <a:ext cx="340553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on-eco-we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552" y="4535424"/>
            <a:ext cx="384048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517904" y="4398264"/>
            <a:ext cx="256428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A1A1A"/>
                </a:solidFill>
                <a:latin typeface="Arial"/>
              </a:rPr>
              <a:t>Claude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Arial"/>
              </a:rPr>
              <a:t>Web og app: chat, Projects og Artifacts.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3082" y="4261104"/>
            <a:ext cx="340553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con-eco-cowo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57674" y="4535424"/>
            <a:ext cx="384048" cy="38404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88026" y="4398264"/>
            <a:ext cx="256428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A1A1A"/>
                </a:solidFill>
                <a:latin typeface="Arial"/>
              </a:rPr>
              <a:t>Cowork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Arial"/>
              </a:rPr>
              <a:t>Tilgang til filene dine - som en kollega.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63204" y="4261104"/>
            <a:ext cx="340553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con-eco-cod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7796" y="4535424"/>
            <a:ext cx="384048" cy="38404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658148" y="4398264"/>
            <a:ext cx="256428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A1A1A"/>
                </a:solidFill>
                <a:latin typeface="Arial"/>
              </a:rPr>
              <a:t>Claude Code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Arial"/>
              </a:rPr>
              <a:t>Bygger verktøy i terminalen.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525725" y="5193792"/>
            <a:ext cx="0" cy="100584"/>
          </a:xfrm>
          <a:prstGeom prst="line">
            <a:avLst/>
          </a:prstGeom>
          <a:ln w="12700">
            <a:solidFill>
              <a:srgbClr val="6B6B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095847" y="5193792"/>
            <a:ext cx="0" cy="100584"/>
          </a:xfrm>
          <a:prstGeom prst="line">
            <a:avLst/>
          </a:prstGeom>
          <a:ln w="12700">
            <a:solidFill>
              <a:srgbClr val="6B6B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665969" y="5193792"/>
            <a:ext cx="0" cy="100584"/>
          </a:xfrm>
          <a:prstGeom prst="line">
            <a:avLst/>
          </a:prstGeom>
          <a:ln w="12700">
            <a:solidFill>
              <a:srgbClr val="6B6B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822960" y="5294376"/>
            <a:ext cx="10545775" cy="932688"/>
          </a:xfrm>
          <a:prstGeom prst="rect">
            <a:avLst/>
          </a:prstGeom>
          <a:solidFill>
            <a:srgbClr val="001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con-eco-llm-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7552" y="5568696"/>
            <a:ext cx="384048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517904" y="5431536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Språkmodellen (LLM)</a:t>
            </a:r>
            <a:r>
              <a:rPr sz="900" b="1">
                <a:solidFill>
                  <a:srgbClr val="BFCBE8"/>
                </a:solidFill>
                <a:latin typeface="Arial"/>
              </a:rPr>
              <a:t>   BYTTBAR MODUL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BFCBE8"/>
                </a:solidFill>
                <a:latin typeface="Arial"/>
              </a:rPr>
              <a:t>I dag Claude - Opus · Sonnet · Haiku. Bytt til GPT eller Gemini - lagene over fungerer likt.</a:t>
            </a:r>
          </a:p>
        </p:txBody>
      </p:sp>
      <p:pic>
        <p:nvPicPr>
          <p:cNvPr id="43" name="Picture 42" descr="logo-gemini-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29823" y="5641848"/>
            <a:ext cx="237744" cy="237744"/>
          </a:xfrm>
          <a:prstGeom prst="rect">
            <a:avLst/>
          </a:prstGeom>
        </p:spPr>
      </p:pic>
      <p:pic>
        <p:nvPicPr>
          <p:cNvPr id="44" name="Picture 43" descr="icon-eco-swap-whit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628071" y="5669280"/>
            <a:ext cx="182880" cy="182880"/>
          </a:xfrm>
          <a:prstGeom prst="rect">
            <a:avLst/>
          </a:prstGeom>
        </p:spPr>
      </p:pic>
      <p:pic>
        <p:nvPicPr>
          <p:cNvPr id="45" name="Picture 44" descr="logo-openai-whi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253167" y="5632704"/>
            <a:ext cx="256032" cy="256032"/>
          </a:xfrm>
          <a:prstGeom prst="rect">
            <a:avLst/>
          </a:prstGeom>
        </p:spPr>
      </p:pic>
      <p:pic>
        <p:nvPicPr>
          <p:cNvPr id="46" name="Picture 45" descr="icon-eco-swap-whit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951415" y="5669280"/>
            <a:ext cx="182880" cy="182880"/>
          </a:xfrm>
          <a:prstGeom prst="rect">
            <a:avLst/>
          </a:prstGeom>
        </p:spPr>
      </p:pic>
      <p:pic>
        <p:nvPicPr>
          <p:cNvPr id="47" name="Picture 46" descr="logo-claud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576511" y="5632704"/>
            <a:ext cx="256032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12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1D6C"/>
                </a:solidFill>
                <a:latin typeface="Arial"/>
              </a:rPr>
              <a:t>SLIK JOBBER VI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Ett system - verktøyene snakker sammen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2960" y="251460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660904"/>
            <a:ext cx="2450592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Arial"/>
              </a:rPr>
              <a:t>Granola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Arial"/>
              </a:rPr>
              <a:t>Møtenotater - skriver seg selv.</a:t>
            </a:r>
          </a:p>
        </p:txBody>
      </p:sp>
      <p:pic>
        <p:nvPicPr>
          <p:cNvPr id="11" name="Picture 10" descr="logo-grano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5536" y="2633472"/>
            <a:ext cx="274320" cy="2743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22960" y="356616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712464"/>
            <a:ext cx="2450592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Arial"/>
              </a:rPr>
              <a:t>Wispr Flow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Arial"/>
              </a:rPr>
              <a:t>Tale til tekst - vi snakker til maskinen.</a:t>
            </a:r>
          </a:p>
        </p:txBody>
      </p:sp>
      <p:pic>
        <p:nvPicPr>
          <p:cNvPr id="14" name="Picture 13" descr="logo-wispr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5536" y="3685032"/>
            <a:ext cx="274320" cy="27432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822960" y="461772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764024"/>
            <a:ext cx="2450592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Arial"/>
              </a:rPr>
              <a:t>Gmail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Arial"/>
              </a:rPr>
              <a:t>E-post - samtaler og vedlegg rett inn.</a:t>
            </a:r>
          </a:p>
        </p:txBody>
      </p:sp>
      <p:pic>
        <p:nvPicPr>
          <p:cNvPr id="17" name="Picture 16" descr="logo-gm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5536" y="4736592"/>
            <a:ext cx="274320" cy="27432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709160" y="3108960"/>
            <a:ext cx="2926080" cy="17373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1D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55464" y="3255264"/>
            <a:ext cx="2633472" cy="1444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Project Intelligence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All kontekst samles her: prosjekter, e-post, kalender, dokumenter - og neste steg.</a:t>
            </a:r>
          </a:p>
        </p:txBody>
      </p:sp>
      <p:pic>
        <p:nvPicPr>
          <p:cNvPr id="20" name="Picture 19" descr="logo-p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0" y="3255264"/>
            <a:ext cx="292608" cy="292608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8641080" y="329184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87384" y="3438144"/>
            <a:ext cx="2450592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Arial"/>
              </a:rPr>
              <a:t>Claude · ChatGPT · Cursor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AI-tilgangen: analyse, dokumenter, kode og agenter.</a:t>
            </a:r>
          </a:p>
        </p:txBody>
      </p:sp>
      <p:pic>
        <p:nvPicPr>
          <p:cNvPr id="23" name="Picture 22" descr="logo-clau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87384" y="4270248"/>
            <a:ext cx="274320" cy="274320"/>
          </a:xfrm>
          <a:prstGeom prst="rect">
            <a:avLst/>
          </a:prstGeom>
        </p:spPr>
      </p:pic>
      <p:pic>
        <p:nvPicPr>
          <p:cNvPr id="24" name="Picture 23" descr="logo-opena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26296" y="4270248"/>
            <a:ext cx="274320" cy="274320"/>
          </a:xfrm>
          <a:prstGeom prst="rect">
            <a:avLst/>
          </a:prstGeom>
        </p:spPr>
      </p:pic>
      <p:pic>
        <p:nvPicPr>
          <p:cNvPr id="25" name="Picture 24" descr="logo-curso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65208" y="4270248"/>
            <a:ext cx="240653" cy="274320"/>
          </a:xfrm>
          <a:prstGeom prst="rect">
            <a:avLst/>
          </a:prstGeom>
        </p:spPr>
      </p:pic>
      <p:cxnSp>
        <p:nvCxnSpPr>
          <p:cNvPr id="26" name="Connector 25"/>
          <p:cNvCxnSpPr/>
          <p:nvPr/>
        </p:nvCxnSpPr>
        <p:spPr>
          <a:xfrm>
            <a:off x="3566160" y="2944368"/>
            <a:ext cx="1143000" cy="667512"/>
          </a:xfrm>
          <a:prstGeom prst="line">
            <a:avLst/>
          </a:prstGeom>
          <a:ln w="12700">
            <a:solidFill>
              <a:srgbClr val="6B6B6B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566160" y="3977639"/>
            <a:ext cx="1143000" cy="18289"/>
          </a:xfrm>
          <a:prstGeom prst="line">
            <a:avLst/>
          </a:prstGeom>
          <a:ln w="12700">
            <a:solidFill>
              <a:srgbClr val="6B6B6B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566160" y="4343400"/>
            <a:ext cx="1143000" cy="704088"/>
          </a:xfrm>
          <a:prstGeom prst="line">
            <a:avLst/>
          </a:prstGeom>
          <a:ln w="12700">
            <a:solidFill>
              <a:srgbClr val="6B6B6B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635240" y="3977639"/>
            <a:ext cx="1005840" cy="0"/>
          </a:xfrm>
          <a:prstGeom prst="line">
            <a:avLst/>
          </a:prstGeom>
          <a:ln w="12700">
            <a:solidFill>
              <a:srgbClr val="6B6B6B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13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1D6C"/>
                </a:solidFill>
                <a:latin typeface="Arial"/>
              </a:rPr>
              <a:t>FUNDAMENTET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Språkmodell ≠ søk ≠ database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2960" y="1874520"/>
            <a:ext cx="336285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39112"/>
            <a:ext cx="3033674" cy="1408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Arial"/>
              </a:rPr>
              <a:t>Claude - språkmodell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Arial"/>
              </a:rPr>
              <a:t>Resonnerer, skriver og sammenstiller. Genererer svar - som må verifiseres.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14418" y="1874520"/>
            <a:ext cx="336285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9010" y="2039112"/>
            <a:ext cx="3033674" cy="1408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Arial"/>
              </a:rPr>
              <a:t>Google - søk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Arial"/>
              </a:rPr>
              <a:t>Finner kilder. Du leser og vurderer selv.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5876" y="1874520"/>
            <a:ext cx="336285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0468" y="2039112"/>
            <a:ext cx="3033674" cy="1408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Arial"/>
              </a:rPr>
              <a:t>Bloomberg / FactSet - database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Arial"/>
              </a:rPr>
              <a:t>Strukturerte fakta. Presist - men uten resonnering.</a:t>
            </a:r>
          </a:p>
        </p:txBody>
      </p:sp>
      <p:pic>
        <p:nvPicPr>
          <p:cNvPr id="15" name="Picture 14" descr="llm-clau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3227832"/>
            <a:ext cx="219456" cy="219456"/>
          </a:xfrm>
          <a:prstGeom prst="rect">
            <a:avLst/>
          </a:prstGeom>
        </p:spPr>
      </p:pic>
      <p:pic>
        <p:nvPicPr>
          <p:cNvPr id="16" name="Picture 15" descr="llm-opena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880" y="3227832"/>
            <a:ext cx="219456" cy="219456"/>
          </a:xfrm>
          <a:prstGeom prst="rect">
            <a:avLst/>
          </a:prstGeom>
        </p:spPr>
      </p:pic>
      <p:pic>
        <p:nvPicPr>
          <p:cNvPr id="17" name="Picture 16" descr="llm-gemin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64208" y="3227832"/>
            <a:ext cx="219456" cy="219456"/>
          </a:xfrm>
          <a:prstGeom prst="rect">
            <a:avLst/>
          </a:prstGeom>
        </p:spPr>
      </p:pic>
      <p:pic>
        <p:nvPicPr>
          <p:cNvPr id="18" name="Picture 17" descr="llm-met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8840" y="3227832"/>
            <a:ext cx="219456" cy="219456"/>
          </a:xfrm>
          <a:prstGeom prst="rect">
            <a:avLst/>
          </a:prstGeom>
        </p:spPr>
      </p:pic>
      <p:pic>
        <p:nvPicPr>
          <p:cNvPr id="19" name="Picture 18" descr="llm-mistr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87168" y="3227832"/>
            <a:ext cx="219456" cy="219456"/>
          </a:xfrm>
          <a:prstGeom prst="rect">
            <a:avLst/>
          </a:prstGeom>
        </p:spPr>
      </p:pic>
      <p:pic>
        <p:nvPicPr>
          <p:cNvPr id="20" name="Picture 19" descr="llm-deepsee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25496" y="3227832"/>
            <a:ext cx="219456" cy="219456"/>
          </a:xfrm>
          <a:prstGeom prst="rect">
            <a:avLst/>
          </a:prstGeom>
        </p:spPr>
      </p:pic>
      <p:pic>
        <p:nvPicPr>
          <p:cNvPr id="21" name="Picture 20" descr="logo-googl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9010" y="3136392"/>
            <a:ext cx="310896" cy="310896"/>
          </a:xfrm>
          <a:prstGeom prst="rect">
            <a:avLst/>
          </a:prstGeom>
        </p:spPr>
      </p:pic>
      <p:pic>
        <p:nvPicPr>
          <p:cNvPr id="22" name="Picture 21" descr="logo-bloomberg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70468" y="3145536"/>
            <a:ext cx="691394" cy="128016"/>
          </a:xfrm>
          <a:prstGeom prst="rect">
            <a:avLst/>
          </a:prstGeom>
        </p:spPr>
      </p:pic>
      <p:pic>
        <p:nvPicPr>
          <p:cNvPr id="23" name="Picture 22" descr="logo-factse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70468" y="3328416"/>
            <a:ext cx="660728" cy="128016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822960" y="4892040"/>
            <a:ext cx="457200" cy="0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2960" y="5001768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Styrken</a:t>
            </a:r>
            <a:r>
              <a:rPr sz="1500" b="0">
                <a:solidFill>
                  <a:srgbClr val="1A1A1A"/>
                </a:solidFill>
                <a:latin typeface="Arial"/>
              </a:rPr>
              <a:t> ligger i kombinasjonen: Claude som analytiker på toppen av kildene deres.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14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1D6C"/>
                </a:solidFill>
                <a:latin typeface="Arial"/>
              </a:rPr>
              <a:t>ØKONOMISK BRUK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Kontekstvinduet - alt modellen ser i ett kall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2960" y="2395728"/>
            <a:ext cx="851219" cy="3429000"/>
          </a:xfrm>
          <a:prstGeom prst="rect">
            <a:avLst/>
          </a:prstGeom>
          <a:solidFill>
            <a:srgbClr val="001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ctx-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545" y="3694176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4187952"/>
            <a:ext cx="85121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System</a:t>
            </a:r>
          </a:p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instruks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94295" y="2395728"/>
            <a:ext cx="982175" cy="3429000"/>
          </a:xfrm>
          <a:prstGeom prst="rect">
            <a:avLst/>
          </a:prstGeom>
          <a:solidFill>
            <a:srgbClr val="0039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eco-mcp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3358" y="3694176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4295" y="4187952"/>
            <a:ext cx="982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Verktøy &amp;</a:t>
            </a:r>
          </a:p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6586" y="2395728"/>
            <a:ext cx="1244089" cy="3429000"/>
          </a:xfrm>
          <a:prstGeom prst="rect">
            <a:avLst/>
          </a:prstGeom>
          <a:solidFill>
            <a:srgbClr val="005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ctx-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6606" y="3694176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96586" y="4187952"/>
            <a:ext cx="124408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Prosjekt &amp;</a:t>
            </a:r>
          </a:p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minne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60791" y="2395728"/>
            <a:ext cx="1506003" cy="3429000"/>
          </a:xfrm>
          <a:prstGeom prst="rect">
            <a:avLst/>
          </a:prstGeom>
          <a:solidFill>
            <a:srgbClr val="007C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eco-web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1768" y="3694176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60791" y="4187952"/>
            <a:ext cx="150600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Hentet</a:t>
            </a:r>
          </a:p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materiale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910" y="2395728"/>
            <a:ext cx="1767916" cy="3429000"/>
          </a:xfrm>
          <a:prstGeom prst="rect">
            <a:avLst/>
          </a:prstGeom>
          <a:solidFill>
            <a:srgbClr val="82C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on-ctx-cha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8844" y="3694176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486910" y="4187952"/>
            <a:ext cx="17679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Arial"/>
              </a:rPr>
              <a:t>Samtalehistorikk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74942" y="2395728"/>
            <a:ext cx="720262" cy="3429000"/>
          </a:xfrm>
          <a:prstGeom prst="rect">
            <a:avLst/>
          </a:prstGeom>
          <a:solidFill>
            <a:srgbClr val="C8D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con-ctx-pe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43049" y="3694176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274942" y="4187952"/>
            <a:ext cx="72026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Arial"/>
              </a:rPr>
              <a:t>Din</a:t>
            </a:r>
          </a:p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Arial"/>
              </a:rPr>
              <a:t>melding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15320" y="2395728"/>
            <a:ext cx="1113132" cy="3429000"/>
          </a:xfrm>
          <a:prstGeom prst="rect">
            <a:avLst/>
          </a:prstGeom>
          <a:pattFill prst="ltUpDiag">
            <a:fgClr>
              <a:srgbClr val="CFD8E0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5320" y="4187952"/>
            <a:ext cx="11131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1250" b="1">
                <a:solidFill>
                  <a:srgbClr val="6B6B6B"/>
                </a:solidFill>
                <a:latin typeface="Arial"/>
              </a:rPr>
              <a:t>Ledig plass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2395728"/>
            <a:ext cx="8305495" cy="3429000"/>
          </a:xfrm>
          <a:prstGeom prst="rect">
            <a:avLst/>
          </a:prstGeom>
          <a:noFill/>
          <a:ln w="25400">
            <a:solidFill>
              <a:srgbClr val="001D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9238183" y="4110228"/>
            <a:ext cx="420624" cy="0"/>
          </a:xfrm>
          <a:prstGeom prst="line">
            <a:avLst/>
          </a:prstGeom>
          <a:ln w="28575">
            <a:solidFill>
              <a:srgbClr val="001D6C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768535" y="2395728"/>
            <a:ext cx="1600200" cy="3429000"/>
          </a:xfrm>
          <a:prstGeom prst="rect">
            <a:avLst/>
          </a:prstGeom>
          <a:solidFill>
            <a:srgbClr val="001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con-eco-llm-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30891" y="3584448"/>
            <a:ext cx="475488" cy="47548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768535" y="4187952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Svar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1D6C"/>
                </a:solidFill>
                <a:latin typeface="Arial"/>
              </a:rPr>
              <a:t>PLUGIN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Hva er en plugin?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Arial"/>
              </a:rPr>
              <a:t>En ferdig pakke Claude kan bruke - her er delene den kan inneholde.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1901952"/>
            <a:ext cx="10545775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22960" y="2249424"/>
            <a:ext cx="1926275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414016"/>
            <a:ext cx="1597091" cy="1408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A1A1A"/>
                </a:solidFill>
                <a:latin typeface="Arial"/>
              </a:rPr>
              <a:t>Kommandoer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Snarveier du kaller på selv, som /kurs.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7835" y="2249424"/>
            <a:ext cx="1926275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42427" y="2414016"/>
            <a:ext cx="1597091" cy="1408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A1A1A"/>
                </a:solidFill>
                <a:latin typeface="Arial"/>
              </a:rPr>
              <a:t>Skills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Oppskrifter Claude tar i bruk selv når du spør.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32710" y="2249424"/>
            <a:ext cx="1926275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97302" y="2414016"/>
            <a:ext cx="1597091" cy="1408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A1A1A"/>
                </a:solidFill>
                <a:latin typeface="Arial"/>
              </a:rPr>
              <a:t>Sub-agenter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Spesialiserte hjelpere som løser en oppgave selvstendig.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87585" y="2249424"/>
            <a:ext cx="1926275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177" y="2414016"/>
            <a:ext cx="1597091" cy="1408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A1A1A"/>
                </a:solidFill>
                <a:latin typeface="Arial"/>
              </a:rPr>
              <a:t>MCP-koblinger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Åpne koblinger til dine data og systemer.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42460" y="2249424"/>
            <a:ext cx="1926275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7052" y="2414016"/>
            <a:ext cx="1597091" cy="1408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A1A1A"/>
                </a:solidFill>
                <a:latin typeface="Arial"/>
              </a:rPr>
              <a:t>Hooks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Automatikk som utløses av hendelser.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16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1D6C"/>
                </a:solidFill>
                <a:latin typeface="Arial"/>
              </a:rPr>
              <a:t>KURSPLUGINEN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Kurset bor i en plugin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Arial"/>
              </a:rPr>
              <a:t>Alt kursstoff - timeplan, forarbeid, oppsummeringer, FAQ - pakket så Claude kan bruke det.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1901952"/>
            <a:ext cx="10545775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22960" y="2249424"/>
            <a:ext cx="2464993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414016"/>
            <a:ext cx="2135809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Arial"/>
              </a:rPr>
              <a:t>Innholdet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Arial"/>
              </a:rPr>
              <a:t>Én kilde: timeplan, FAQ og øktnotater for alle ti øktene - oppdateres etter hver økt.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6553" y="2249424"/>
            <a:ext cx="2464993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1145" y="2414016"/>
            <a:ext cx="2135809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Arial"/>
              </a:rPr>
              <a:t>/kurs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Arial"/>
              </a:rPr>
              <a:t>Én kommando: neste økt på ti sekunder - dato, tema og forarbeidet.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6" y="2249424"/>
            <a:ext cx="2464993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4738" y="2414016"/>
            <a:ext cx="2135809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Arial"/>
              </a:rPr>
              <a:t>Skills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Arial"/>
              </a:rPr>
              <a:t>Oppskrifter Claude bruker selv når du spør: forbered meg, recap, FAQ - og «forklar».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3739" y="2249424"/>
            <a:ext cx="2464993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68331" y="2414016"/>
            <a:ext cx="2135809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Arial"/>
              </a:rPr>
              <a:t>MCP-server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Arial"/>
              </a:rPr>
              <a:t>Åpen kobling som gir Claude siste versjon av innholdet - alltid oppdatert.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2960" y="4846320"/>
            <a:ext cx="457200" cy="0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4956048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Poenget:</a:t>
            </a:r>
            <a:r>
              <a:rPr sz="1500" b="0">
                <a:solidFill>
                  <a:srgbClr val="1A1A1A"/>
                </a:solidFill>
                <a:latin typeface="Arial"/>
              </a:rPr>
              <a:t> dette er mønsteret dere selv bygger i fase 2 - kurset er det første eksemplet.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17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1D6C"/>
                </a:solidFill>
                <a:latin typeface="Arial"/>
              </a:rPr>
              <a:t>HANDS-ON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Installer kurspluginen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Arial"/>
              </a:rPr>
              <a:t>Lenken kommer i chatten nå - instruksjonene ligger på siden.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1901952"/>
            <a:ext cx="10545775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432304"/>
            <a:ext cx="3271418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01D6C"/>
                </a:solidFill>
                <a:latin typeface="Arial"/>
              </a:rPr>
              <a:t>1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Åpne lenken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Arial"/>
              </a:rPr>
              <a:t>req-bootcamp-plugin.vercel.app - alt du trenger står 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0138" y="2432304"/>
            <a:ext cx="3271418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01D6C"/>
                </a:solidFill>
                <a:latin typeface="Arial"/>
              </a:rPr>
              <a:t>2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Legg til connectoren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Arial"/>
              </a:rPr>
              <a:t>Settings → Connectors → Add custom connector - lim inn adressen fra siden.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7316" y="2432304"/>
            <a:ext cx="3271418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01D6C"/>
                </a:solidFill>
                <a:latin typeface="Arial"/>
              </a:rPr>
              <a:t>3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Si fra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Arial"/>
              </a:rPr>
              <a:t>Tommel opp når «vis timeplanen» svarer - vi hjelper der det stopper.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18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1D6C"/>
                </a:solidFill>
                <a:latin typeface="Arial"/>
              </a:rPr>
              <a:t>HANDS-ON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Spør kurset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Arial"/>
              </a:rPr>
              <a:t>Pluginen svarer på alt om kurset - prøv: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1901952"/>
            <a:ext cx="10545775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340864"/>
            <a:ext cx="1054577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600" b="0">
                <a:solidFill>
                  <a:srgbClr val="001D6C"/>
                </a:solidFill>
                <a:latin typeface="Arial"/>
              </a:rPr>
              <a:t>▪  </a:t>
            </a:r>
            <a:r>
              <a:rPr sz="1800" b="0">
                <a:solidFill>
                  <a:srgbClr val="1A1A1A"/>
                </a:solidFill>
                <a:latin typeface="Arial"/>
              </a:rPr>
              <a:t>«Hva er forarbeidet til neste økt?»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600" b="0">
                <a:solidFill>
                  <a:srgbClr val="001D6C"/>
                </a:solidFill>
                <a:latin typeface="Arial"/>
              </a:rPr>
              <a:t>▪  </a:t>
            </a:r>
            <a:r>
              <a:rPr sz="1800" b="0">
                <a:solidFill>
                  <a:srgbClr val="1A1A1A"/>
                </a:solidFill>
                <a:latin typeface="Arial"/>
              </a:rPr>
              <a:t>«Hva skjedde i økt 1 - lag en oppsummering til en kollega.»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600" b="0">
                <a:solidFill>
                  <a:srgbClr val="001D6C"/>
                </a:solidFill>
                <a:latin typeface="Arial"/>
              </a:rPr>
              <a:t>▪  </a:t>
            </a:r>
            <a:r>
              <a:rPr sz="1800" b="0">
                <a:solidFill>
                  <a:srgbClr val="1A1A1A"/>
                </a:solidFill>
                <a:latin typeface="Arial"/>
              </a:rPr>
              <a:t>«Forklar MCP for meg - helt enkelt.»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600" b="0">
                <a:solidFill>
                  <a:srgbClr val="001D6C"/>
                </a:solidFill>
                <a:latin typeface="Arial"/>
              </a:rPr>
              <a:t>▪  </a:t>
            </a:r>
            <a:r>
              <a:rPr sz="1800" b="0">
                <a:solidFill>
                  <a:srgbClr val="1A1A1A"/>
                </a:solidFill>
                <a:latin typeface="Arial"/>
              </a:rPr>
              <a:t>«Lag en REQ-profilert presentasjon om det vi nettopp gikk gjennom.»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4892040"/>
            <a:ext cx="457200" cy="0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5001768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Se på den siste:</a:t>
            </a:r>
            <a:r>
              <a:rPr sz="1500" b="0">
                <a:solidFill>
                  <a:srgbClr val="1A1A1A"/>
                </a:solidFill>
                <a:latin typeface="Arial"/>
              </a:rPr>
              <a:t> presentasjonen kommer med riktige REQ-farger og -bilder - pluginen kan mer enn å svare.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19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1D6C"/>
                </a:solidFill>
                <a:latin typeface="Arial"/>
              </a:rPr>
              <a:t>KILDEKRITIKK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Der det oftest går galt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Arial"/>
              </a:rPr>
              <a:t>AI kan finne på noe som høres riktig ut. Høyest risiko: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1901952"/>
            <a:ext cx="10545775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22960" y="2249424"/>
            <a:ext cx="2464993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414016"/>
            <a:ext cx="2135809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Arial"/>
              </a:rPr>
              <a:t>Tall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Arial"/>
              </a:rPr>
              <a:t>Beløp, vekstrater, multipler - sjekk alltid mot kilden.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6553" y="2249424"/>
            <a:ext cx="2464993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1145" y="2414016"/>
            <a:ext cx="2135809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Arial"/>
              </a:rPr>
              <a:t>Sitater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Arial"/>
              </a:rPr>
              <a:t>Ordrett gjengivelse kan være konstruert.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6" y="2249424"/>
            <a:ext cx="2464993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4738" y="2414016"/>
            <a:ext cx="2135809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Arial"/>
              </a:rPr>
              <a:t>Navn og roller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Arial"/>
              </a:rPr>
              <a:t>Feil person, feil tittel, feil selskap.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3739" y="2249424"/>
            <a:ext cx="2464993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68331" y="2414016"/>
            <a:ext cx="2135809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Arial"/>
              </a:rPr>
              <a:t>Lov- og kildehenvisninger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Arial"/>
              </a:rPr>
              <a:t>Paragrafer og referanser som ikke finnes.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2960" y="4846320"/>
            <a:ext cx="457200" cy="0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4956048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Regelen i finans:</a:t>
            </a:r>
            <a:r>
              <a:rPr sz="1500" b="0">
                <a:solidFill>
                  <a:srgbClr val="1A1A1A"/>
                </a:solidFill>
                <a:latin typeface="Arial"/>
              </a:rPr>
              <a:t> ingen tall eller kilder inn i en beslutning uten verifisering. Mer i uke 4.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20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1D6C"/>
                </a:solidFill>
                <a:latin typeface="Arial"/>
              </a:rPr>
              <a:t>HANDS-ON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Bli med i det delte prosjektet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Arial"/>
              </a:rPr>
              <a:t>Kurset bor i et Claude-prosjekt - dere lærer Projects ved å bruke det.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1901952"/>
            <a:ext cx="10545775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432304"/>
            <a:ext cx="3271418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01D6C"/>
                </a:solidFill>
                <a:latin typeface="Arial"/>
              </a:rPr>
              <a:t>1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Åpne Claude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Arial"/>
              </a:rPr>
              <a:t>claude.ai eller desktop-appen - Team-kontoen til REQ.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0138" y="2432304"/>
            <a:ext cx="3271418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01D6C"/>
                </a:solidFill>
                <a:latin typeface="Arial"/>
              </a:rPr>
              <a:t>2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Finn prosjektet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Arial"/>
              </a:rPr>
              <a:t>«REQ AI Bootcamp» - lenken kommer i chatten nå.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7316" y="2432304"/>
            <a:ext cx="3271418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01D6C"/>
                </a:solidFill>
                <a:latin typeface="Arial"/>
              </a:rPr>
              <a:t>3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Si fra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Arial"/>
              </a:rPr>
              <a:t>Tommel opp når du er inne - vi hjelper der det stopper.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21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1D6C"/>
                </a:solidFill>
                <a:latin typeface="Arial"/>
              </a:rPr>
              <a:t>HANDS-ON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Din 1-times-oppgave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Arial"/>
              </a:rPr>
              <a:t>Oppgaven du tenkte på i forkant - den du bruker mer enn 1 time i uken på.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1901952"/>
            <a:ext cx="10545775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432304"/>
            <a:ext cx="3271418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01D6C"/>
                </a:solidFill>
                <a:latin typeface="Arial"/>
              </a:rPr>
              <a:t>1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Beskriv den for Claude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Arial"/>
              </a:rPr>
              <a:t>Kontekst: hva, for hvem, hvorfor. Mål og ønsket format.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0138" y="2432304"/>
            <a:ext cx="3271418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01D6C"/>
                </a:solidFill>
                <a:latin typeface="Arial"/>
              </a:rPr>
              <a:t>2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Kjør den i to modeller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Arial"/>
              </a:rPr>
              <a:t>Samme prompt i Sonnet og Opus - sammenlign svar og hastighet.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7316" y="2432304"/>
            <a:ext cx="3271418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01D6C"/>
                </a:solidFill>
                <a:latin typeface="Arial"/>
              </a:rPr>
              <a:t>3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Vurder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Arial"/>
              </a:rPr>
              <a:t>Er svaret brukbart? Hva mangler? Hvilken modell ville du valgt?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22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1D6C"/>
                </a:solidFill>
                <a:latin typeface="Arial"/>
              </a:rPr>
              <a:t>DELING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Hva så vi?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1965960"/>
            <a:ext cx="1054577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600" b="0">
                <a:solidFill>
                  <a:srgbClr val="001D6C"/>
                </a:solidFill>
                <a:latin typeface="Arial"/>
              </a:rPr>
              <a:t>▪  </a:t>
            </a:r>
            <a:r>
              <a:rPr sz="1800" b="0">
                <a:solidFill>
                  <a:srgbClr val="1A1A1A"/>
                </a:solidFill>
                <a:latin typeface="Arial"/>
              </a:rPr>
              <a:t>Hva funket bedre enn du trodde?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600" b="0">
                <a:solidFill>
                  <a:srgbClr val="001D6C"/>
                </a:solidFill>
                <a:latin typeface="Arial"/>
              </a:rPr>
              <a:t>▪  </a:t>
            </a:r>
            <a:r>
              <a:rPr sz="1800" b="0">
                <a:solidFill>
                  <a:srgbClr val="1A1A1A"/>
                </a:solidFill>
                <a:latin typeface="Arial"/>
              </a:rPr>
              <a:t>Hvor bommet den - og skjønner du hvorfor?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600" b="0">
                <a:solidFill>
                  <a:srgbClr val="001D6C"/>
                </a:solidFill>
                <a:latin typeface="Arial"/>
              </a:rPr>
              <a:t>▪  </a:t>
            </a:r>
            <a:r>
              <a:rPr sz="1800" b="0">
                <a:solidFill>
                  <a:srgbClr val="1A1A1A"/>
                </a:solidFill>
                <a:latin typeface="Arial"/>
              </a:rPr>
              <a:t>Hvilken modell ville du valgt til akkurat din oppgave?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23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1D6C"/>
                </a:solidFill>
                <a:latin typeface="Arial"/>
              </a:rPr>
              <a:t>TIL NESTE UKE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Ukens oppdrag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1965960"/>
            <a:ext cx="1054577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Kom med 2–3 use-cases fra din egen hverdag:</a:t>
            </a:r>
          </a:p>
          <a:p>
            <a:pPr algn="l">
              <a:spcAft>
                <a:spcPts val="0"/>
              </a:spcAft>
            </a:pPr>
            <a:r>
              <a:rPr sz="2200" b="0">
                <a:solidFill>
                  <a:srgbClr val="001D6C"/>
                </a:solidFill>
                <a:latin typeface="Arial"/>
              </a:rPr>
              <a:t>«Jeg bruker mer enn 1 time i uken på …»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2960" y="4206240"/>
            <a:ext cx="457200" cy="0"/>
          </a:xfrm>
          <a:prstGeom prst="line">
            <a:avLst/>
          </a:prstGeom>
          <a:ln w="25400">
            <a:solidFill>
              <a:srgbClr val="001D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4315968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Hvorfor:</a:t>
            </a:r>
            <a:r>
              <a:rPr sz="1500" b="0">
                <a:solidFill>
                  <a:srgbClr val="1A1A1A"/>
                </a:solidFill>
                <a:latin typeface="Arial"/>
              </a:rPr>
              <a:t> Vi sparrer på teknisk gjennomførbarhet - dette blir råstoffet til det du selv bygger fra uke 6.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AI Bootcamp for REQ · Uke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54335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24</a:t>
            </a:r>
          </a:p>
        </p:txBody>
      </p:sp>
      <p:pic>
        <p:nvPicPr>
          <p:cNvPr id="4" name="Picture 3" descr="req-logo-f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8368" y="324612"/>
            <a:ext cx="570407" cy="237744"/>
          </a:xfrm>
          <a:prstGeom prst="rect">
            <a:avLst/>
          </a:prstGeom>
        </p:spPr>
      </p:pic>
      <p:pic>
        <p:nvPicPr>
          <p:cNvPr id="5" name="Picture 4" descr="varden-wordmark-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9034" y="384048"/>
            <a:ext cx="754743" cy="118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011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Takk for i dag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Neste tirsdag: </a:t>
            </a:r>
            <a:r>
              <a:rPr sz="1600" b="0">
                <a:solidFill>
                  <a:srgbClr val="6B6B6B"/>
                </a:solidFill>
                <a:latin typeface="Arial"/>
              </a:rPr>
              <a:t>strukturert prompting - XML-tagger, gjenbrukbare maler, Projects, Artifacts og Memory.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Arial"/>
              </a:rPr>
              <a:t>Samme tid, samme sted - og på Teams.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97680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Arial"/>
              </a:rPr>
              <a:t>Herman Holmøy · herman@vardenlab.com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Arial"/>
              </a:rPr>
              <a:t>Nicolay Liaaen Hagen · nicolay@vardenlab.com</a:t>
            </a:r>
          </a:p>
        </p:txBody>
      </p:sp>
      <p:pic>
        <p:nvPicPr>
          <p:cNvPr id="9" name="Picture 8" descr="varden-word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943600"/>
            <a:ext cx="1625600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77160" y="58978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Arial"/>
              </a:rPr>
              <a:t>×</a:t>
            </a:r>
          </a:p>
        </p:txBody>
      </p:sp>
      <p:pic>
        <p:nvPicPr>
          <p:cNvPr id="11" name="Picture 10" descr="req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200" y="5815584"/>
            <a:ext cx="1228570" cy="5120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